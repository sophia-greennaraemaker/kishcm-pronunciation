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79" r:id="rId3"/>
    <p:sldId id="257" r:id="rId4"/>
    <p:sldId id="258" r:id="rId5"/>
    <p:sldId id="280" r:id="rId6"/>
    <p:sldId id="273" r:id="rId7"/>
    <p:sldId id="268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60" r:id="rId19"/>
    <p:sldId id="295" r:id="rId20"/>
    <p:sldId id="294" r:id="rId21"/>
    <p:sldId id="297" r:id="rId22"/>
    <p:sldId id="299" r:id="rId23"/>
    <p:sldId id="296" r:id="rId24"/>
    <p:sldId id="261" r:id="rId25"/>
    <p:sldId id="262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id="{A12D1B81-FAC2-49A0-9AE4-3A3035D30CFA}" name="교사용 참고 자료">
          <p14:sldIdLst>
            <p14:sldId id="279"/>
          </p14:sldIdLst>
        </p14:section>
        <p14:section id="{6682FD54-BAD8-4B84-80FB-EE057C707963}" name="수업">
          <p14:sldIdLst>
            <p14:sldId id="257"/>
            <p14:sldId id="258"/>
            <p14:sldId id="280"/>
            <p14:sldId id="273"/>
            <p14:sldId id="268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60"/>
            <p14:sldId id="295"/>
            <p14:sldId id="294"/>
            <p14:sldId id="297"/>
            <p14:sldId id="299"/>
            <p14:sldId id="296"/>
            <p14:sldId id="261"/>
            <p14:sldId id="262"/>
          </p14:sldIdLst>
        </p14:section>
      </p14:sectionLst>
    </p:ext>
  </p:extLst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2579"/>
    <p:restoredTop sz="94090" autoAdjust="0"/>
  </p:normalViewPr>
  <p:slideViewPr>
    <p:cSldViewPr snapToGrid="0" snapToObjects="1">
      <p:cViewPr varScale="1">
        <p:scale>
          <a:sx n="100" d="100"/>
          <a:sy n="100" d="100"/>
        </p:scale>
        <p:origin x="930" y="114"/>
      </p:cViewPr>
      <p:guideLst>
        <p:guide orient="horz" pos="2157"/>
        <p:guide pos="383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presProps" Target="presProps.xml"  /><Relationship Id="rId28" Type="http://schemas.openxmlformats.org/officeDocument/2006/relationships/viewProps" Target="viewProps.xml"  /><Relationship Id="rId29" Type="http://schemas.openxmlformats.org/officeDocument/2006/relationships/theme" Target="theme/theme1.xml"  /><Relationship Id="rId3" Type="http://schemas.openxmlformats.org/officeDocument/2006/relationships/slide" Target="slides/slide1.xml"  /><Relationship Id="rId30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2026-07-02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5064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2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3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*</a:t>
            </a:r>
            <a:r>
              <a:rPr lang="ko-KR" altLang="en-US"/>
              <a:t>이미지 출처</a:t>
            </a:r>
            <a:r>
              <a:rPr lang="en-US" altLang="ko-KR"/>
              <a:t>:</a:t>
            </a:r>
            <a:r>
              <a:rPr lang="ko-KR" altLang="en-US"/>
              <a:t> 미리캔버스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096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그림 카드 두 장을 보여 줍니다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「잠자는 아이 그림」 「공 차는 아이 그림」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선생님이 한 장을 고르고 발음합니다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2544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'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자다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차다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'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두 발음을 번갈아 들려주며 소리가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다른지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느껴보게 합니다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‘자다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차다‘ 와 같이 비슷하지만 다른 소리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3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가지를 배웁니다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6048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1857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배에 힘을 꽉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! ‘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쌍지읒‘을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만나봅시다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배에 손을 얹어봐요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선생님이랑 같이 힘을 주면서 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—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해봐요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!"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하며 시범을 보인다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’짜다‘ 그림 카드를 보여주며 함께 읽는다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557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부드러운 ’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지읒‘을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만나 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lvl="0"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이번엔 힘 빼고 부드럽게 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—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자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—"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하며 시범을 보인다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’자다‘ 그림 카드를 보여주며 함께 읽는다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53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바람이 훅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! ’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치읓‘을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만나봅시다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(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중심활동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손등을 잎 앞에 대 봐요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손등에 바람이 느껴지나요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?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-"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휴지를 입 앞에 대봐요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휴지에 바람이 느껴지나요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?"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하며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ㅊ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발음 시범을 보인다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’차다‘ 그림 카드를 보여주며 함께 읽는다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’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차다‘와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’자다‘ 그림 카드를 보여주며 종이를 활용해 함께 읽는다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4070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ㅊ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ㅉ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3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장을 책상에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펼쳐둔다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055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선생님이 읽는 낱말의 카드를 빠르게 들도록 안내한다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자다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ㅈ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차다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ㅊ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찌개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ㅉ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231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선생님이 읽는 낱말의 카드를 빠르게 들도록 안내한다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자다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ㅈ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차다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ㅊ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찌개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ㅉ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00457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선생님이 읽는 낱말의 카드를 빠르게 들도록 안내한다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자다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ㅈ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차다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ㅊ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찌개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ㅉ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8031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선생님이 읽는 낱말의 카드를 빠르게 들도록 안내한다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자다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ㅈ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차다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ㅊ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찌개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ㅉ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624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선생님이 읽는 낱말의 카드를 빠르게 들도록 안내한다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자다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ㅈ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차다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ㅊ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찌개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ㅉ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13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선생님이 읽는 낱말의 카드를 빠르게 들도록 안내한다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 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예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)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자다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ㅈ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차다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ㅊ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/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찌개 →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ㅉ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카드</a:t>
            </a: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3831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짝꿍이 소리내는 낱말 카드를 골라보세요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marL="254000" lvl="0" algn="just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ko-KR" altLang="en-US" b="0" i="0" u="none" strike="noStrike" baseline="0" dirty="0">
              <a:solidFill>
                <a:srgbClr val="000000"/>
              </a:solidFill>
              <a:latin typeface="나눔고딕"/>
              <a:ea typeface="나눔고딕"/>
              <a:cs typeface="나눔고딕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491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문장 읽기</a:t>
            </a: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파찰음이 있는 낱말을 먼저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문장씩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전체 문장을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30592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문장 읽기</a:t>
            </a: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파찰음이 있는 낱말을 먼저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문장씩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전체 문장을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1152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문장 읽기</a:t>
            </a: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파찰음이 있는 낱말을 먼저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문장씩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전체 문장을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789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문장 읽기</a:t>
            </a: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파찰음이 있는 낱말을 먼저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문장씩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전체 문장을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카드를 뽑아 고르고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,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문장을 만들어서 조합하여 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7794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문장 읽기</a:t>
            </a: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파찰음이 있는 낱말을 먼저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문장씩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전체 문장을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9168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▪ 문장 읽기</a:t>
            </a: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파찰음이 있는 낱말을 먼저</a:t>
            </a:r>
          </a:p>
          <a:p>
            <a:pPr fontAlgn="base" latinLnBrk="1"/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한 </a:t>
            </a:r>
            <a:r>
              <a:rPr lang="ko-KR" altLang="en-US" sz="1200" kern="1200" dirty="0" err="1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문장씩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  <a:p>
            <a:pPr fontAlgn="base"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-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전체 문장을 읽어봅시다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.</a:t>
            </a:r>
            <a:endParaRPr lang="ko-KR" altLang="en-US" sz="1200" kern="1200" dirty="0">
              <a:solidFill>
                <a:schemeClr val="tx1"/>
              </a:solidFill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82487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133576"/>
      </p:ext>
    </p:extLst>
  </p:cSld>
  <p:clrMapOvr>
    <a:masterClrMapping/>
  </p:clrMapOvr>
</p:notes>
</file>

<file path=ppt/notesSlides/notesSlide2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발음 수업 용 패들렛을 만들어 학생들이 녹음한 것을 업로드할 수 있도록 안내한다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09F4262C-968C-4EE9-8164-CE16364706B3}" type="slidenum">
              <a:rPr lang="ko-KR" altLang="en-US" smtClean="0"/>
              <a:pPr lvl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54278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2026-07-02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hyperlink" Target="https://sophia-greennaraemaker.github.io/kishcm-pronunciation/" TargetMode="External" /><Relationship Id="rId5" Type="http://schemas.openxmlformats.org/officeDocument/2006/relationships/image" Target="../media/image2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12.png"  /><Relationship Id="rId4" Type="http://schemas.openxmlformats.org/officeDocument/2006/relationships/image" Target="../media/image13.png"  /><Relationship Id="rId5" Type="http://schemas.openxmlformats.org/officeDocument/2006/relationships/image" Target="../media/image14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1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1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15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1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15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15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14.png"  /><Relationship Id="rId4" Type="http://schemas.openxmlformats.org/officeDocument/2006/relationships/image" Target="../media/image11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11.png"  /><Relationship Id="rId4" Type="http://schemas.openxmlformats.org/officeDocument/2006/relationships/image" Target="../media/image7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0.xml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1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2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12.png"  /><Relationship Id="rId6" Type="http://schemas.openxmlformats.org/officeDocument/2006/relationships/image" Target="../media/image13.png"  /><Relationship Id="rId7" Type="http://schemas.openxmlformats.org/officeDocument/2006/relationships/image" Target="../media/image6.png"  /><Relationship Id="rId8" Type="http://schemas.openxmlformats.org/officeDocument/2006/relationships/image" Target="../media/image8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78512" y="2773377"/>
            <a:ext cx="10130852" cy="1724257"/>
          </a:xfrm>
          <a:prstGeom prst="rect">
            <a:avLst/>
          </a:prstGeom>
        </p:spPr>
      </p:pic>
      <p:sp>
        <p:nvSpPr>
          <p:cNvPr id="14" name="가로 글상자 13"/>
          <p:cNvSpPr txBox="1"/>
          <p:nvPr/>
        </p:nvSpPr>
        <p:spPr>
          <a:xfrm>
            <a:off x="210712" y="245155"/>
            <a:ext cx="11915817" cy="3133037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 sz="3600" b="1">
                <a:solidFill>
                  <a:schemeClr val="tx1"/>
                </a:solidFill>
                <a:latin typeface="나눔고딕"/>
                <a:ea typeface="나눔고딕"/>
              </a:rPr>
              <a:t>*</a:t>
            </a:r>
            <a:r>
              <a:rPr lang="ko-KR" altLang="en-US" sz="3600" b="1">
                <a:solidFill>
                  <a:schemeClr val="tx1"/>
                </a:solidFill>
                <a:latin typeface="나눔고딕"/>
                <a:ea typeface="나눔고딕"/>
              </a:rPr>
              <a:t>자료 소개</a:t>
            </a:r>
            <a:endParaRPr lang="ko-KR" altLang="en-US" sz="3600" b="1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본 자료는 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‘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베트남어 간섭을 극복하는 다감각·디지털 기반 맞춤형 발음 교육 자료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’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endParaRPr lang="ko-KR" altLang="en-US" sz="240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 입니다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학교 상황에 따라 수정하여 사용하실 수 있습니다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endParaRPr lang="en-US" altLang="ko-KR" sz="240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400">
                <a:latin typeface="나눔고딕"/>
                <a:ea typeface="나눔고딕"/>
              </a:rPr>
              <a:t>- 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호치민시한국국제학교 교사 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6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명이 개발한 자료입니다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오혜령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 강아라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 권예림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 박은솔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 양유정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,</a:t>
            </a:r>
            <a:r>
              <a:rPr lang="ko-KR" altLang="en-US" sz="1400">
                <a:solidFill>
                  <a:schemeClr val="tx1"/>
                </a:solidFill>
                <a:latin typeface="나눔고딕"/>
                <a:ea typeface="나눔고딕"/>
              </a:rPr>
              <a:t> 이서정</a:t>
            </a:r>
            <a:r>
              <a:rPr lang="en-US" altLang="ko-KR" sz="140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  <a:endParaRPr lang="en-US" altLang="ko-KR" sz="140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-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전체 자료를 확인할 수 있는 사이트입니다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.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</a:rPr>
              <a:t> 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(</a:t>
            </a:r>
            <a:r>
              <a:rPr lang="ko-KR" altLang="en-US" sz="2400">
                <a:solidFill>
                  <a:schemeClr val="tx1"/>
                </a:solidFill>
                <a:latin typeface="나눔고딕"/>
                <a:ea typeface="나눔고딕"/>
                <a:hlinkClick r:id="rId4"/>
              </a:rPr>
              <a:t>링크</a:t>
            </a:r>
            <a:r>
              <a:rPr lang="en-US" altLang="ko-KR" sz="2400">
                <a:solidFill>
                  <a:schemeClr val="tx1"/>
                </a:solidFill>
                <a:latin typeface="나눔고딕"/>
                <a:ea typeface="나눔고딕"/>
              </a:rPr>
              <a:t>)</a:t>
            </a:r>
            <a:endParaRPr lang="en-US" altLang="ko-KR" sz="2400">
              <a:solidFill>
                <a:schemeClr val="tx1"/>
              </a:solidFill>
              <a:latin typeface="나눔고딕"/>
              <a:ea typeface="나눔고딕"/>
            </a:endParaRPr>
          </a:p>
          <a:p>
            <a:pPr lvl="0">
              <a:lnSpc>
                <a:spcPct val="120000"/>
              </a:lnSpc>
              <a:defRPr/>
            </a:pPr>
            <a:endParaRPr lang="en-US" altLang="ko-KR" sz="3600">
              <a:solidFill>
                <a:schemeClr val="tx1"/>
              </a:solidFill>
              <a:latin typeface="나눔고딕"/>
              <a:ea typeface="나눔고딕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/>
          <a:srcRect b="50000"/>
          <a:stretch>
            <a:fillRect/>
          </a:stretch>
        </p:blipFill>
        <p:spPr>
          <a:xfrm>
            <a:off x="9140661" y="2309256"/>
            <a:ext cx="2840627" cy="799725"/>
          </a:xfrm>
          <a:prstGeom prst="rect">
            <a:avLst/>
          </a:prstGeom>
        </p:spPr>
      </p:pic>
      <p:sp>
        <p:nvSpPr>
          <p:cNvPr id="8" name="가로 글상자 9">
            <a:extLst>
              <a:ext uri="{FF2B5EF4-FFF2-40B4-BE49-F238E27FC236}">
                <a16:creationId xmlns:a16="http://schemas.microsoft.com/office/drawing/2014/main" id="{C4CBB3DA-395F-4040-83D3-99F509A2A30E}"/>
              </a:ext>
            </a:extLst>
          </p:cNvPr>
          <p:cNvSpPr txBox="1"/>
          <p:nvPr/>
        </p:nvSpPr>
        <p:spPr>
          <a:xfrm>
            <a:off x="240521" y="4629374"/>
            <a:ext cx="749430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500" b="1" dirty="0">
                <a:latin typeface="나눔고딕"/>
                <a:ea typeface="나눔고딕"/>
              </a:rPr>
              <a:t>*</a:t>
            </a:r>
            <a:r>
              <a:rPr lang="ko-KR" altLang="en-US" sz="2500" b="1" dirty="0" err="1">
                <a:latin typeface="나눔고딕"/>
                <a:ea typeface="나눔고딕"/>
              </a:rPr>
              <a:t>본차시</a:t>
            </a:r>
            <a:r>
              <a:rPr lang="ko-KR" altLang="en-US" sz="2500" b="1" dirty="0">
                <a:latin typeface="나눔고딕"/>
                <a:ea typeface="나눔고딕"/>
              </a:rPr>
              <a:t> 수업 발음 유의점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338252" y="5137570"/>
            <a:ext cx="11643035" cy="746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defRPr/>
            </a:pPr>
            <a:r>
              <a:rPr lang="en-US" altLang="ko-KR">
                <a:latin typeface="나눔고딕"/>
                <a:ea typeface="나눔고딕"/>
              </a:rPr>
              <a:t>-</a:t>
            </a:r>
            <a:r>
              <a:rPr lang="ko-KR" altLang="en-US">
                <a:latin typeface="나눔고딕"/>
                <a:ea typeface="나눔고딕"/>
              </a:rPr>
              <a:t>본 자료는 베트남 발음에 익숙한 학생들이 파찰음을 익히는데 효과적인 방안을 연구한 자료 입니다</a:t>
            </a:r>
            <a:r>
              <a:rPr lang="en-US" altLang="ko-KR">
                <a:latin typeface="나눔고딕"/>
                <a:ea typeface="나눔고딕"/>
              </a:rPr>
              <a:t>. </a:t>
            </a:r>
            <a:r>
              <a:rPr lang="ko-KR" altLang="en-US">
                <a:latin typeface="나눔고딕"/>
                <a:ea typeface="나눔고딕"/>
              </a:rPr>
              <a:t>따라서 베트남어 학습자가 가장 쉽게 느끼는 경음</a:t>
            </a:r>
            <a:r>
              <a:rPr lang="en-US" altLang="ko-KR">
                <a:latin typeface="나눔고딕"/>
                <a:ea typeface="나눔고딕"/>
              </a:rPr>
              <a:t>(</a:t>
            </a:r>
            <a:r>
              <a:rPr lang="ko-KR" altLang="en-US"/>
              <a:t>쌍지읒</a:t>
            </a:r>
            <a:r>
              <a:rPr lang="en-US" altLang="ko-KR">
                <a:latin typeface="나눔고딕"/>
                <a:ea typeface="나눔고딕"/>
              </a:rPr>
              <a:t>)</a:t>
            </a:r>
            <a:r>
              <a:rPr lang="ko-KR" altLang="en-US">
                <a:latin typeface="나눔고딕"/>
                <a:ea typeface="나눔고딕"/>
              </a:rPr>
              <a:t>을 먼저 배우고 다음</a:t>
            </a:r>
            <a:r>
              <a:rPr lang="en-US" altLang="ko-KR">
                <a:latin typeface="나눔고딕"/>
                <a:ea typeface="나눔고딕"/>
              </a:rPr>
              <a:t> </a:t>
            </a:r>
            <a:r>
              <a:rPr lang="ko-KR" altLang="en-US">
                <a:latin typeface="나눔고딕"/>
                <a:ea typeface="나눔고딕"/>
              </a:rPr>
              <a:t>평음</a:t>
            </a:r>
            <a:r>
              <a:rPr lang="en-US" altLang="ko-KR">
                <a:latin typeface="나눔고딕"/>
                <a:ea typeface="나눔고딕"/>
              </a:rPr>
              <a:t>(</a:t>
            </a:r>
            <a:r>
              <a:rPr lang="ko-KR" altLang="en-US">
                <a:latin typeface="나눔고딕"/>
                <a:ea typeface="나눔고딕"/>
              </a:rPr>
              <a:t>지읒</a:t>
            </a:r>
            <a:r>
              <a:rPr lang="en-US" altLang="ko-KR">
                <a:latin typeface="나눔고딕"/>
                <a:ea typeface="나눔고딕"/>
              </a:rPr>
              <a:t>), </a:t>
            </a:r>
            <a:r>
              <a:rPr lang="ko-KR" altLang="en-US">
                <a:latin typeface="나눔고딕"/>
                <a:ea typeface="나눔고딕"/>
              </a:rPr>
              <a:t>격음</a:t>
            </a:r>
            <a:r>
              <a:rPr lang="en-US" altLang="ko-KR">
                <a:latin typeface="나눔고딕"/>
                <a:ea typeface="나눔고딕"/>
              </a:rPr>
              <a:t>(</a:t>
            </a:r>
            <a:r>
              <a:rPr lang="ko-KR" altLang="en-US">
                <a:latin typeface="나눔고딕"/>
                <a:ea typeface="나눔고딕"/>
              </a:rPr>
              <a:t>치읓</a:t>
            </a:r>
            <a:r>
              <a:rPr lang="en-US" altLang="ko-KR">
                <a:latin typeface="나눔고딕"/>
                <a:ea typeface="나눔고딕"/>
              </a:rPr>
              <a:t>)</a:t>
            </a:r>
            <a:r>
              <a:rPr lang="ko-KR" altLang="en-US">
                <a:latin typeface="나눔고딕"/>
                <a:ea typeface="나눔고딕"/>
              </a:rPr>
              <a:t> 순서로 배치하였습니다</a:t>
            </a:r>
            <a:r>
              <a:rPr lang="en-US" altLang="ko-KR">
                <a:latin typeface="나눔고딕"/>
                <a:ea typeface="나눔고딕"/>
              </a:rPr>
              <a:t>.</a:t>
            </a:r>
            <a:endParaRPr lang="en-US" altLang="ko-KR"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219450796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가로 글상자 11"/>
          <p:cNvSpPr txBox="1"/>
          <p:nvPr/>
        </p:nvSpPr>
        <p:spPr>
          <a:xfrm>
            <a:off x="273845" y="410526"/>
            <a:ext cx="1164431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ko-KR" altLang="en-US" sz="7500" b="1" dirty="0">
                <a:latin typeface="강원교육튼튼"/>
                <a:ea typeface="강원교육튼튼"/>
              </a:rPr>
              <a:t>툭</a:t>
            </a:r>
            <a:r>
              <a:rPr lang="en-US" altLang="ko-KR" sz="7500" b="1" dirty="0">
                <a:latin typeface="강원교육튼튼"/>
                <a:ea typeface="강원교육튼튼"/>
              </a:rPr>
              <a:t>! </a:t>
            </a:r>
            <a:r>
              <a:rPr lang="ko-KR" altLang="en-US" sz="7500" b="1" dirty="0">
                <a:latin typeface="강원교육튼튼"/>
                <a:ea typeface="강원교육튼튼"/>
              </a:rPr>
              <a:t>열리는 </a:t>
            </a:r>
            <a:r>
              <a:rPr lang="ko-KR" altLang="en-US" sz="7500" b="1" dirty="0" err="1">
                <a:latin typeface="강원교육튼튼"/>
                <a:ea typeface="강원교육튼튼"/>
              </a:rPr>
              <a:t>소리문</a:t>
            </a:r>
            <a:endParaRPr lang="ko-KR" altLang="en-US" sz="7500" b="1" dirty="0">
              <a:latin typeface="강원교육튼튼"/>
              <a:ea typeface="강원교육튼튼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rcRect b="50000"/>
          <a:stretch>
            <a:fillRect/>
          </a:stretch>
        </p:blipFill>
        <p:spPr>
          <a:xfrm>
            <a:off x="8804145" y="5908818"/>
            <a:ext cx="3171825" cy="892968"/>
          </a:xfrm>
          <a:prstGeom prst="rect">
            <a:avLst/>
          </a:prstGeom>
        </p:spPr>
      </p:pic>
      <p:sp>
        <p:nvSpPr>
          <p:cNvPr id="2" name="AutoShape 2" descr=", AI로 생성">
            <a:extLst>
              <a:ext uri="{FF2B5EF4-FFF2-40B4-BE49-F238E27FC236}">
                <a16:creationId xmlns:a16="http://schemas.microsoft.com/office/drawing/2014/main" id="{3026BBEA-88BF-4B9D-A142-58E733D700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5185317" cy="518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67E700E-F992-495C-B4AF-F24B71244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44" y="0"/>
            <a:ext cx="11644310" cy="634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88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선생님이 읽으신 낱말은 무엇일까요</a:t>
            </a:r>
            <a:r>
              <a:rPr lang="en-US" altLang="ko-KR" sz="4000" b="1">
                <a:latin typeface="나눔고딕"/>
                <a:ea typeface="나눔고딕"/>
              </a:rPr>
              <a:t>?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10803411-9CA1-4991-9B12-0D2965542CC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78" b="50244"/>
          <a:stretch/>
        </p:blipFill>
        <p:spPr>
          <a:xfrm>
            <a:off x="206375" y="1871818"/>
            <a:ext cx="6043485" cy="383601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7B66DD0-DA28-489B-B641-4657058AB4C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06" b="4216"/>
          <a:stretch/>
        </p:blipFill>
        <p:spPr>
          <a:xfrm>
            <a:off x="6021516" y="1871817"/>
            <a:ext cx="6043485" cy="383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16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선생님이 읽으신 낱말은 무엇일까요</a:t>
            </a:r>
            <a:r>
              <a:rPr lang="en-US" altLang="ko-KR" sz="4000" b="1">
                <a:latin typeface="나눔고딕"/>
                <a:ea typeface="나눔고딕"/>
              </a:rPr>
              <a:t>?</a:t>
            </a:r>
          </a:p>
        </p:txBody>
      </p:sp>
      <p:sp>
        <p:nvSpPr>
          <p:cNvPr id="8" name="양쪽 모서리가 둥근 사각형 6"/>
          <p:cNvSpPr/>
          <p:nvPr/>
        </p:nvSpPr>
        <p:spPr>
          <a:xfrm flipV="1">
            <a:off x="10001252" y="0"/>
            <a:ext cx="2063749" cy="78867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FFE766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가로 글상자 7">
            <a:extLst>
              <a:ext uri="{FF2B5EF4-FFF2-40B4-BE49-F238E27FC236}">
                <a16:creationId xmlns:a16="http://schemas.microsoft.com/office/drawing/2014/main" id="{2E51F2A9-7CCF-43E5-B30D-26AB3598220D}"/>
              </a:ext>
            </a:extLst>
          </p:cNvPr>
          <p:cNvSpPr txBox="1"/>
          <p:nvPr/>
        </p:nvSpPr>
        <p:spPr>
          <a:xfrm>
            <a:off x="10128251" y="0"/>
            <a:ext cx="1865312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sz="2300" dirty="0">
                <a:latin typeface="강원교육모두 Bold"/>
                <a:ea typeface="강원교육모두 Bold"/>
              </a:rPr>
              <a:t>(3/6)</a:t>
            </a:r>
            <a:r>
              <a:rPr lang="ko-KR" altLang="en-US" sz="2300" dirty="0">
                <a:latin typeface="강원교육모두 Bold"/>
                <a:ea typeface="강원교육모두 Bold"/>
              </a:rPr>
              <a:t> 툭</a:t>
            </a:r>
            <a:r>
              <a:rPr lang="en-US" altLang="ko-KR" sz="2300" dirty="0">
                <a:latin typeface="강원교육모두 Bold"/>
                <a:ea typeface="강원교육모두 Bold"/>
              </a:rPr>
              <a:t>!</a:t>
            </a:r>
          </a:p>
          <a:p>
            <a:pPr lvl="0" algn="ctr">
              <a:defRPr/>
            </a:pPr>
            <a:r>
              <a:rPr lang="ko-KR" altLang="en-US" sz="2300" dirty="0">
                <a:latin typeface="강원교육모두 Bold"/>
                <a:ea typeface="강원교육모두 Bold"/>
              </a:rPr>
              <a:t>열리는 </a:t>
            </a:r>
            <a:r>
              <a:rPr lang="ko-KR" altLang="en-US" sz="2300" dirty="0" err="1">
                <a:latin typeface="강원교육모두 Bold"/>
                <a:ea typeface="강원교육모두 Bold"/>
              </a:rPr>
              <a:t>소리문</a:t>
            </a:r>
            <a:endParaRPr lang="en-US" altLang="ko-KR" sz="2300" dirty="0">
              <a:latin typeface="강원교육모두 Bold"/>
              <a:ea typeface="강원교육모두 Bold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E4ED67F-CD6B-4D45-BC0B-A660DC4C1B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5" b="51348"/>
          <a:stretch/>
        </p:blipFill>
        <p:spPr>
          <a:xfrm>
            <a:off x="368860" y="1785657"/>
            <a:ext cx="5744434" cy="354051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90999E3-14D6-4DD2-8399-9BD31D0597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82" b="5440"/>
          <a:stretch/>
        </p:blipFill>
        <p:spPr>
          <a:xfrm>
            <a:off x="6059611" y="1763354"/>
            <a:ext cx="5744434" cy="354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80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659029" y="1887765"/>
            <a:ext cx="3065478" cy="1317843"/>
          </a:xfrm>
          <a:prstGeom prst="ellipse">
            <a:avLst/>
          </a:prstGeom>
          <a:solidFill>
            <a:srgbClr val="FFEF99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수업의 학습 목표</a:t>
            </a:r>
          </a:p>
        </p:txBody>
      </p:sp>
      <p:sp>
        <p:nvSpPr>
          <p:cNvPr id="15" name="가로 글상자 14"/>
          <p:cNvSpPr txBox="1"/>
          <p:nvPr/>
        </p:nvSpPr>
        <p:spPr>
          <a:xfrm>
            <a:off x="3347476" y="1521062"/>
            <a:ext cx="98444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8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소리를 낼 때</a:t>
            </a:r>
            <a:r>
              <a:rPr lang="en-US" altLang="ko-KR" sz="28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, </a:t>
            </a:r>
            <a:r>
              <a:rPr lang="ko-KR" altLang="en-US" sz="28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먼저 입을 꽉 막았다가 바람을 내보내는 소리</a:t>
            </a:r>
            <a:endParaRPr lang="ko-KR" altLang="en-US" sz="2800" b="1" dirty="0">
              <a:solidFill>
                <a:srgbClr val="806B00"/>
              </a:solidFill>
              <a:latin typeface="강원교육모두 Bold" panose="02020603020101020101" pitchFamily="18" charset="-127"/>
              <a:ea typeface="강원교육모두 Bold" panose="02020603020101020101" pitchFamily="18" charset="-127"/>
            </a:endParaRPr>
          </a:p>
        </p:txBody>
      </p:sp>
      <p:sp>
        <p:nvSpPr>
          <p:cNvPr id="14" name="가로 글상자 11">
            <a:extLst>
              <a:ext uri="{FF2B5EF4-FFF2-40B4-BE49-F238E27FC236}">
                <a16:creationId xmlns:a16="http://schemas.microsoft.com/office/drawing/2014/main" id="{4A3368BD-F921-464B-9684-CE86118A64AA}"/>
              </a:ext>
            </a:extLst>
          </p:cNvPr>
          <p:cNvSpPr txBox="1"/>
          <p:nvPr/>
        </p:nvSpPr>
        <p:spPr>
          <a:xfrm>
            <a:off x="759390" y="1974840"/>
            <a:ext cx="1143261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7200" b="1" dirty="0" err="1">
                <a:latin typeface="나눔고딕"/>
              </a:rPr>
              <a:t>파찰음</a:t>
            </a:r>
            <a:r>
              <a:rPr lang="en-US" altLang="ko-KR" sz="7200" b="1" dirty="0">
                <a:latin typeface="나눔고딕"/>
              </a:rPr>
              <a:t> </a:t>
            </a:r>
            <a:r>
              <a:rPr lang="en-US" altLang="ko-KR" sz="7200" b="1" dirty="0" err="1">
                <a:latin typeface="나눔고딕"/>
              </a:rPr>
              <a:t>ㅈ,ㅊ,ㅉ의</a:t>
            </a:r>
            <a:r>
              <a:rPr lang="en-US" altLang="ko-KR" sz="7200" b="1" dirty="0">
                <a:latin typeface="나눔고딕"/>
              </a:rPr>
              <a:t> </a:t>
            </a:r>
            <a:r>
              <a:rPr lang="en-US" altLang="ko-KR" sz="7200" b="1" dirty="0" err="1">
                <a:latin typeface="나눔고딕"/>
              </a:rPr>
              <a:t>소리를</a:t>
            </a:r>
            <a:r>
              <a:rPr lang="en-US" altLang="ko-KR" sz="7200" b="1" dirty="0">
                <a:latin typeface="나눔고딕"/>
              </a:rPr>
              <a:t> </a:t>
            </a:r>
          </a:p>
          <a:p>
            <a:pPr fontAlgn="base"/>
            <a:r>
              <a:rPr lang="en-US" altLang="ko-KR" sz="7200" b="1" dirty="0" err="1">
                <a:latin typeface="나눔고딕"/>
              </a:rPr>
              <a:t>구별하고</a:t>
            </a:r>
            <a:r>
              <a:rPr lang="en-US" altLang="ko-KR" sz="7200" b="1" dirty="0">
                <a:latin typeface="나눔고딕"/>
              </a:rPr>
              <a:t> </a:t>
            </a:r>
            <a:r>
              <a:rPr lang="en-US" altLang="ko-KR" sz="7200" b="1" dirty="0" err="1">
                <a:latin typeface="나눔고딕"/>
              </a:rPr>
              <a:t>올바르게</a:t>
            </a:r>
            <a:r>
              <a:rPr lang="en-US" altLang="ko-KR" sz="7200" b="1" dirty="0">
                <a:latin typeface="나눔고딕"/>
              </a:rPr>
              <a:t> </a:t>
            </a:r>
          </a:p>
          <a:p>
            <a:pPr fontAlgn="base"/>
            <a:r>
              <a:rPr lang="en-US" altLang="ko-KR" sz="7200" b="1" dirty="0" err="1">
                <a:latin typeface="나눔고딕"/>
              </a:rPr>
              <a:t>발음할</a:t>
            </a:r>
            <a:r>
              <a:rPr lang="en-US" altLang="ko-KR" sz="7200" b="1" dirty="0">
                <a:latin typeface="나눔고딕"/>
              </a:rPr>
              <a:t> 수 </a:t>
            </a:r>
            <a:r>
              <a:rPr lang="en-US" altLang="ko-KR" sz="7200" b="1" dirty="0" err="1">
                <a:latin typeface="나눔고딕"/>
              </a:rPr>
              <a:t>있다</a:t>
            </a:r>
            <a:r>
              <a:rPr lang="en-US" altLang="ko-KR" sz="7200" b="1" dirty="0">
                <a:latin typeface="나눔고딕"/>
              </a:rPr>
              <a:t>.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07987B9-5895-47F8-970B-958803B18640}"/>
              </a:ext>
            </a:extLst>
          </p:cNvPr>
          <p:cNvGrpSpPr/>
          <p:nvPr/>
        </p:nvGrpSpPr>
        <p:grpSpPr>
          <a:xfrm>
            <a:off x="10001252" y="0"/>
            <a:ext cx="2063749" cy="1154162"/>
            <a:chOff x="10001252" y="0"/>
            <a:chExt cx="2063749" cy="1154162"/>
          </a:xfrm>
        </p:grpSpPr>
        <p:sp>
          <p:nvSpPr>
            <p:cNvPr id="16" name="양쪽 모서리가 둥근 사각형 6">
              <a:extLst>
                <a:ext uri="{FF2B5EF4-FFF2-40B4-BE49-F238E27FC236}">
                  <a16:creationId xmlns:a16="http://schemas.microsoft.com/office/drawing/2014/main" id="{C9AD39CF-31EA-4273-850F-77B8950330FD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7" name="가로 글상자 7">
              <a:extLst>
                <a:ext uri="{FF2B5EF4-FFF2-40B4-BE49-F238E27FC236}">
                  <a16:creationId xmlns:a16="http://schemas.microsoft.com/office/drawing/2014/main" id="{E580ECD3-822B-45B3-B075-C1112E5FC0EB}"/>
                </a:ext>
              </a:extLst>
            </p:cNvPr>
            <p:cNvSpPr txBox="1"/>
            <p:nvPr/>
          </p:nvSpPr>
          <p:spPr>
            <a:xfrm>
              <a:off x="10128251" y="0"/>
              <a:ext cx="1865312" cy="115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  <a:p>
              <a:pPr lvl="0" algn="ctr">
                <a:defRPr/>
              </a:pP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949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&lt;활동1&gt;</a:t>
            </a:r>
            <a:r>
              <a:rPr lang="ko-KR" altLang="en-US" sz="4000" b="1" dirty="0">
                <a:latin typeface="나눔고딕"/>
                <a:ea typeface="나눔고딕"/>
              </a:rPr>
              <a:t> 안녕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발음 만나기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92DB1064-DEE2-4A64-A37A-CC736A1C8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035" y="1021714"/>
            <a:ext cx="3890850" cy="26698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4F41A4-2675-4383-A66E-559CC0AFB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125" y="1231363"/>
            <a:ext cx="3097737" cy="393909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EE200D3-6699-41D1-8F9E-617F01B8AD31}"/>
              </a:ext>
            </a:extLst>
          </p:cNvPr>
          <p:cNvSpPr/>
          <p:nvPr/>
        </p:nvSpPr>
        <p:spPr>
          <a:xfrm>
            <a:off x="6333861" y="5170461"/>
            <a:ext cx="4770264" cy="640611"/>
          </a:xfrm>
          <a:prstGeom prst="rect">
            <a:avLst/>
          </a:prstGeom>
          <a:solidFill>
            <a:srgbClr val="AFD48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sz="3200" b="1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배에 손을 얹고 힘을 주며 짜</a:t>
            </a:r>
            <a:r>
              <a:rPr lang="en-US" altLang="ko-KR" sz="3200" b="1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-</a:t>
            </a:r>
            <a:endParaRPr lang="ko-KR" altLang="en-US" sz="3200" b="1" dirty="0">
              <a:solidFill>
                <a:srgbClr val="806B00"/>
              </a:solidFill>
              <a:latin typeface="강원교육모두 Bold" panose="02020603020101020101" pitchFamily="18" charset="-127"/>
              <a:ea typeface="강원교육모두 Bold" panose="02020603020101020101" pitchFamily="18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BEFC50-A980-4A48-B2E9-88AACB3FE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9035" y="3674452"/>
            <a:ext cx="3945954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874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&lt;활동1&gt;</a:t>
            </a:r>
            <a:r>
              <a:rPr lang="ko-KR" altLang="en-US" sz="4000" b="1" dirty="0">
                <a:latin typeface="나눔고딕"/>
                <a:ea typeface="나눔고딕"/>
              </a:rPr>
              <a:t> 안녕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발음 만나기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E200D3-6699-41D1-8F9E-617F01B8AD31}"/>
              </a:ext>
            </a:extLst>
          </p:cNvPr>
          <p:cNvSpPr/>
          <p:nvPr/>
        </p:nvSpPr>
        <p:spPr>
          <a:xfrm>
            <a:off x="6333861" y="5170461"/>
            <a:ext cx="4770264" cy="640611"/>
          </a:xfrm>
          <a:prstGeom prst="rect">
            <a:avLst/>
          </a:prstGeom>
          <a:solidFill>
            <a:srgbClr val="AFD48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sz="3200" b="1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힘을 빼고 부드럽게 자</a:t>
            </a:r>
            <a:r>
              <a:rPr lang="en-US" altLang="ko-KR" sz="3200" b="1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-</a:t>
            </a:r>
            <a:endParaRPr lang="ko-KR" altLang="en-US" sz="3200" b="1" dirty="0">
              <a:solidFill>
                <a:srgbClr val="806B00"/>
              </a:solidFill>
              <a:latin typeface="강원교육모두 Bold" panose="02020603020101020101" pitchFamily="18" charset="-127"/>
              <a:ea typeface="강원교육모두 Bold" panose="02020603020101020101" pitchFamily="18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F4EEF1-0929-4183-83F7-EF973804C3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719" y="984923"/>
            <a:ext cx="4010585" cy="26864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DD641AB-5016-4668-B3F2-C144AA451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8140" y="3671348"/>
            <a:ext cx="4039164" cy="268642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7BAF171-E5A5-475F-82A1-7D61E8F36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268" y="1297123"/>
            <a:ext cx="3327993" cy="387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0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&lt;활동1&gt;</a:t>
            </a:r>
            <a:r>
              <a:rPr lang="ko-KR" altLang="en-US" sz="4000" b="1" dirty="0">
                <a:latin typeface="나눔고딕"/>
                <a:ea typeface="나눔고딕"/>
              </a:rPr>
              <a:t> 안녕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발음 만나기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EE200D3-6699-41D1-8F9E-617F01B8AD31}"/>
              </a:ext>
            </a:extLst>
          </p:cNvPr>
          <p:cNvSpPr/>
          <p:nvPr/>
        </p:nvSpPr>
        <p:spPr>
          <a:xfrm>
            <a:off x="6333861" y="4503843"/>
            <a:ext cx="4770264" cy="640611"/>
          </a:xfrm>
          <a:prstGeom prst="rect">
            <a:avLst/>
          </a:prstGeom>
          <a:solidFill>
            <a:srgbClr val="AFD48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sz="3200" b="1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손등에</a:t>
            </a:r>
            <a:r>
              <a:rPr lang="en-US" altLang="ko-KR" sz="3200" b="1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 </a:t>
            </a:r>
            <a:r>
              <a:rPr lang="ko-KR" altLang="en-US" sz="3200" b="1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바람이 느껴지게 차</a:t>
            </a:r>
            <a:r>
              <a:rPr lang="en-US" altLang="ko-KR" sz="3200" b="1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-</a:t>
            </a:r>
            <a:endParaRPr lang="ko-KR" altLang="en-US" sz="3200" b="1" dirty="0">
              <a:solidFill>
                <a:srgbClr val="806B00"/>
              </a:solidFill>
              <a:latin typeface="강원교육모두 Bold" panose="02020603020101020101" pitchFamily="18" charset="-127"/>
              <a:ea typeface="강원교육모두 Bold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771FB34-1F32-4274-853B-1B97F82D9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403" y="994374"/>
            <a:ext cx="3848637" cy="26292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9791AAC-AFD1-47F1-B6F8-800089BD0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4824" y="3531442"/>
            <a:ext cx="3877216" cy="2600688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D254A9-64D4-4BDB-9605-2643053D1381}"/>
              </a:ext>
            </a:extLst>
          </p:cNvPr>
          <p:cNvSpPr/>
          <p:nvPr/>
        </p:nvSpPr>
        <p:spPr>
          <a:xfrm>
            <a:off x="6333861" y="5296854"/>
            <a:ext cx="4770264" cy="640611"/>
          </a:xfrm>
          <a:prstGeom prst="rect">
            <a:avLst/>
          </a:prstGeom>
          <a:solidFill>
            <a:srgbClr val="AFD48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ko-KR" altLang="en-US" sz="3200" b="1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휴지가 날아가도록 차</a:t>
            </a:r>
            <a:r>
              <a:rPr lang="en-US" altLang="ko-KR" sz="3200" b="1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-</a:t>
            </a:r>
            <a:endParaRPr lang="ko-KR" altLang="en-US" sz="3200" b="1" dirty="0">
              <a:solidFill>
                <a:srgbClr val="806B00"/>
              </a:solidFill>
              <a:latin typeface="강원교육모두 Bold" panose="02020603020101020101" pitchFamily="18" charset="-127"/>
              <a:ea typeface="강원교육모두 Bold" panose="02020603020101020101" pitchFamily="18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6F1377C-D8F1-465A-BACB-68B0214757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916" y="1363585"/>
            <a:ext cx="3265056" cy="310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70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ko-KR" altLang="en-US" sz="4000" b="1" dirty="0">
                <a:latin typeface="나눔고딕"/>
                <a:ea typeface="나눔고딕"/>
              </a:rPr>
              <a:t> 번쩍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카드를 들어라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8D7BA795-0701-4815-AB2F-89ECBF8002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672"/>
          <a:stretch/>
        </p:blipFill>
        <p:spPr>
          <a:xfrm>
            <a:off x="855037" y="2125773"/>
            <a:ext cx="3524988" cy="311445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4D98F2C-9256-4C88-8BB8-38553F7379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815" b="34857"/>
          <a:stretch/>
        </p:blipFill>
        <p:spPr>
          <a:xfrm>
            <a:off x="4380025" y="2068216"/>
            <a:ext cx="3524988" cy="311445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12269895-A598-4807-A98E-50BE914E43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477"/>
          <a:stretch/>
        </p:blipFill>
        <p:spPr>
          <a:xfrm>
            <a:off x="7905013" y="2068216"/>
            <a:ext cx="3524988" cy="322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05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ko-KR" altLang="en-US" sz="4000" b="1" dirty="0">
                <a:latin typeface="나눔고딕"/>
                <a:ea typeface="나눔고딕"/>
              </a:rPr>
              <a:t> 번쩍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카드를 들어라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1154162"/>
            <a:chOff x="10001252" y="0"/>
            <a:chExt cx="2063749" cy="1154162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115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  <a:p>
              <a:pPr lvl="0" algn="ctr">
                <a:defRPr/>
              </a:pP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880F29-32BB-4347-B434-FE4F652B94F5}"/>
              </a:ext>
            </a:extLst>
          </p:cNvPr>
          <p:cNvSpPr txBox="1"/>
          <p:nvPr/>
        </p:nvSpPr>
        <p:spPr>
          <a:xfrm>
            <a:off x="206375" y="1934695"/>
            <a:ext cx="682749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9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자다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9B2BCF9-B38E-4CED-982E-3E8C358BC5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815" b="34857"/>
          <a:stretch/>
        </p:blipFill>
        <p:spPr>
          <a:xfrm>
            <a:off x="7852010" y="2599742"/>
            <a:ext cx="3524988" cy="3114454"/>
          </a:xfrm>
          <a:prstGeom prst="rect">
            <a:avLst/>
          </a:prstGeom>
        </p:spPr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5F6B586-B4D7-49A7-B6D5-9108753B04EA}"/>
              </a:ext>
            </a:extLst>
          </p:cNvPr>
          <p:cNvSpPr/>
          <p:nvPr/>
        </p:nvSpPr>
        <p:spPr>
          <a:xfrm>
            <a:off x="2542479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문제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4882F22-BCE7-4710-B271-245649986E39}"/>
              </a:ext>
            </a:extLst>
          </p:cNvPr>
          <p:cNvSpPr/>
          <p:nvPr/>
        </p:nvSpPr>
        <p:spPr>
          <a:xfrm>
            <a:off x="8433868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정답</a:t>
            </a:r>
          </a:p>
        </p:txBody>
      </p:sp>
    </p:spTree>
    <p:extLst>
      <p:ext uri="{BB962C8B-B14F-4D97-AF65-F5344CB8AC3E}">
        <p14:creationId xmlns:p14="http://schemas.microsoft.com/office/powerpoint/2010/main" val="123723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ko-KR" altLang="en-US" sz="4000" b="1" dirty="0">
                <a:latin typeface="나눔고딕"/>
                <a:ea typeface="나눔고딕"/>
              </a:rPr>
              <a:t> 번쩍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카드를 들어라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880F29-32BB-4347-B434-FE4F652B94F5}"/>
              </a:ext>
            </a:extLst>
          </p:cNvPr>
          <p:cNvSpPr txBox="1"/>
          <p:nvPr/>
        </p:nvSpPr>
        <p:spPr>
          <a:xfrm>
            <a:off x="206375" y="1934695"/>
            <a:ext cx="682749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9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찌개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5F6B586-B4D7-49A7-B6D5-9108753B04EA}"/>
              </a:ext>
            </a:extLst>
          </p:cNvPr>
          <p:cNvSpPr/>
          <p:nvPr/>
        </p:nvSpPr>
        <p:spPr>
          <a:xfrm>
            <a:off x="2542479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문제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4882F22-BCE7-4710-B271-245649986E39}"/>
              </a:ext>
            </a:extLst>
          </p:cNvPr>
          <p:cNvSpPr/>
          <p:nvPr/>
        </p:nvSpPr>
        <p:spPr>
          <a:xfrm>
            <a:off x="8433868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정답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1B6B0CC-2517-4B89-86A4-2F1C93B412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672"/>
          <a:stretch/>
        </p:blipFill>
        <p:spPr>
          <a:xfrm>
            <a:off x="7808798" y="2590504"/>
            <a:ext cx="3524988" cy="311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24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ko-KR" altLang="en-US" sz="4000" b="1" dirty="0">
                <a:latin typeface="나눔고딕"/>
                <a:ea typeface="나눔고딕"/>
              </a:rPr>
              <a:t> 번쩍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카드를 들어라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880F29-32BB-4347-B434-FE4F652B94F5}"/>
              </a:ext>
            </a:extLst>
          </p:cNvPr>
          <p:cNvSpPr txBox="1"/>
          <p:nvPr/>
        </p:nvSpPr>
        <p:spPr>
          <a:xfrm>
            <a:off x="206375" y="1934695"/>
            <a:ext cx="682749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9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차다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5F6B586-B4D7-49A7-B6D5-9108753B04EA}"/>
              </a:ext>
            </a:extLst>
          </p:cNvPr>
          <p:cNvSpPr/>
          <p:nvPr/>
        </p:nvSpPr>
        <p:spPr>
          <a:xfrm>
            <a:off x="2542479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문제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4882F22-BCE7-4710-B271-245649986E39}"/>
              </a:ext>
            </a:extLst>
          </p:cNvPr>
          <p:cNvSpPr/>
          <p:nvPr/>
        </p:nvSpPr>
        <p:spPr>
          <a:xfrm>
            <a:off x="8433868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정답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7AE5B7E-1444-4682-B711-A3575C1135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477"/>
          <a:stretch/>
        </p:blipFill>
        <p:spPr>
          <a:xfrm>
            <a:off x="7808798" y="2525571"/>
            <a:ext cx="3524988" cy="322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31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ko-KR" altLang="en-US" sz="4000" b="1" dirty="0">
                <a:latin typeface="나눔고딕"/>
                <a:ea typeface="나눔고딕"/>
              </a:rPr>
              <a:t> 번쩍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카드를 들어라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880F29-32BB-4347-B434-FE4F652B94F5}"/>
              </a:ext>
            </a:extLst>
          </p:cNvPr>
          <p:cNvSpPr txBox="1"/>
          <p:nvPr/>
        </p:nvSpPr>
        <p:spPr>
          <a:xfrm>
            <a:off x="206375" y="1934695"/>
            <a:ext cx="682749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9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짝꿍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5F6B586-B4D7-49A7-B6D5-9108753B04EA}"/>
              </a:ext>
            </a:extLst>
          </p:cNvPr>
          <p:cNvSpPr/>
          <p:nvPr/>
        </p:nvSpPr>
        <p:spPr>
          <a:xfrm>
            <a:off x="2542479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문제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4882F22-BCE7-4710-B271-245649986E39}"/>
              </a:ext>
            </a:extLst>
          </p:cNvPr>
          <p:cNvSpPr/>
          <p:nvPr/>
        </p:nvSpPr>
        <p:spPr>
          <a:xfrm>
            <a:off x="8433868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정답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7AE5B7E-1444-4682-B711-A3575C1135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477"/>
          <a:stretch/>
        </p:blipFill>
        <p:spPr>
          <a:xfrm>
            <a:off x="7808798" y="2525571"/>
            <a:ext cx="3524988" cy="32295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69E9BAC-336D-4F78-85A7-3C49338B96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7672"/>
          <a:stretch/>
        </p:blipFill>
        <p:spPr>
          <a:xfrm>
            <a:off x="7808798" y="2590504"/>
            <a:ext cx="3524988" cy="311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113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ko-KR" altLang="en-US" sz="4000" b="1" dirty="0">
                <a:latin typeface="나눔고딕"/>
                <a:ea typeface="나눔고딕"/>
              </a:rPr>
              <a:t> 번쩍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카드를 들어라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880F29-32BB-4347-B434-FE4F652B94F5}"/>
              </a:ext>
            </a:extLst>
          </p:cNvPr>
          <p:cNvSpPr txBox="1"/>
          <p:nvPr/>
        </p:nvSpPr>
        <p:spPr>
          <a:xfrm>
            <a:off x="206375" y="1934695"/>
            <a:ext cx="682749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9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조개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5F6B586-B4D7-49A7-B6D5-9108753B04EA}"/>
              </a:ext>
            </a:extLst>
          </p:cNvPr>
          <p:cNvSpPr/>
          <p:nvPr/>
        </p:nvSpPr>
        <p:spPr>
          <a:xfrm>
            <a:off x="2542479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문제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4882F22-BCE7-4710-B271-245649986E39}"/>
              </a:ext>
            </a:extLst>
          </p:cNvPr>
          <p:cNvSpPr/>
          <p:nvPr/>
        </p:nvSpPr>
        <p:spPr>
          <a:xfrm>
            <a:off x="8433868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정답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5A8018C-FCE4-4D28-9546-571E650815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815" b="34857"/>
          <a:stretch/>
        </p:blipFill>
        <p:spPr>
          <a:xfrm>
            <a:off x="7852010" y="2599742"/>
            <a:ext cx="3524988" cy="311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ko-KR" altLang="en-US" sz="4000" b="1" dirty="0">
                <a:latin typeface="나눔고딕"/>
                <a:ea typeface="나눔고딕"/>
              </a:rPr>
              <a:t> 번쩍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카드를 들어라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880F29-32BB-4347-B434-FE4F652B94F5}"/>
              </a:ext>
            </a:extLst>
          </p:cNvPr>
          <p:cNvSpPr txBox="1"/>
          <p:nvPr/>
        </p:nvSpPr>
        <p:spPr>
          <a:xfrm>
            <a:off x="206375" y="1934695"/>
            <a:ext cx="682749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39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치마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5F6B586-B4D7-49A7-B6D5-9108753B04EA}"/>
              </a:ext>
            </a:extLst>
          </p:cNvPr>
          <p:cNvSpPr/>
          <p:nvPr/>
        </p:nvSpPr>
        <p:spPr>
          <a:xfrm>
            <a:off x="2542479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문제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4882F22-BCE7-4710-B271-245649986E39}"/>
              </a:ext>
            </a:extLst>
          </p:cNvPr>
          <p:cNvSpPr/>
          <p:nvPr/>
        </p:nvSpPr>
        <p:spPr>
          <a:xfrm>
            <a:off x="8433868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정답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7E7E9F3-BA11-4752-A73B-6A7C1FC4AE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6477"/>
          <a:stretch/>
        </p:blipFill>
        <p:spPr>
          <a:xfrm>
            <a:off x="7808798" y="2614626"/>
            <a:ext cx="3524988" cy="3229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</a:t>
            </a:r>
            <a:r>
              <a:rPr lang="en-US" altLang="en-US" sz="4000" b="1" dirty="0">
                <a:latin typeface="나눔고딕"/>
                <a:ea typeface="나눔고딕"/>
              </a:rPr>
              <a:t>2</a:t>
            </a:r>
            <a:r>
              <a:rPr lang="EN-US" altLang="en-US" sz="4000" b="1" dirty="0">
                <a:latin typeface="나눔고딕"/>
                <a:ea typeface="나눔고딕"/>
              </a:rPr>
              <a:t>&gt;</a:t>
            </a:r>
            <a:r>
              <a:rPr lang="ko-KR" altLang="en-US" sz="4000" b="1" dirty="0">
                <a:latin typeface="나눔고딕"/>
                <a:ea typeface="나눔고딕"/>
              </a:rPr>
              <a:t> 번쩍</a:t>
            </a:r>
            <a:r>
              <a:rPr lang="en-US" altLang="ko-KR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카드를 들어라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09B904BF-531C-4319-836A-63C78954AAB5}"/>
              </a:ext>
            </a:extLst>
          </p:cNvPr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19" name="양쪽 모서리가 둥근 사각형 6">
              <a:extLst>
                <a:ext uri="{FF2B5EF4-FFF2-40B4-BE49-F238E27FC236}">
                  <a16:creationId xmlns:a16="http://schemas.microsoft.com/office/drawing/2014/main" id="{C0E93CAC-51D8-47ED-9D7E-EDA2E1394503}"/>
                </a:ext>
              </a:extLst>
            </p:cNvPr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20" name="가로 글상자 7">
              <a:extLst>
                <a:ext uri="{FF2B5EF4-FFF2-40B4-BE49-F238E27FC236}">
                  <a16:creationId xmlns:a16="http://schemas.microsoft.com/office/drawing/2014/main" id="{CF0FA171-02B0-4BD6-9B1C-59E357FD52CB}"/>
                </a:ext>
              </a:extLst>
            </p:cNvPr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0880F29-32BB-4347-B434-FE4F652B94F5}"/>
              </a:ext>
            </a:extLst>
          </p:cNvPr>
          <p:cNvSpPr txBox="1"/>
          <p:nvPr/>
        </p:nvSpPr>
        <p:spPr>
          <a:xfrm>
            <a:off x="266158" y="2441241"/>
            <a:ext cx="682749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짝꿍이</a:t>
            </a:r>
            <a:endParaRPr lang="en-US" altLang="ko-KR" sz="8800" dirty="0">
              <a:latin typeface="강원교육모두 Bold" panose="02020603020101020101" pitchFamily="18" charset="-127"/>
              <a:ea typeface="강원교육모두 Bold" panose="02020603020101020101" pitchFamily="18" charset="-127"/>
            </a:endParaRPr>
          </a:p>
          <a:p>
            <a:pPr algn="ctr"/>
            <a:r>
              <a:rPr lang="ko-KR" altLang="en-US" sz="88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문제를 내고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5F6B586-B4D7-49A7-B6D5-9108753B04EA}"/>
              </a:ext>
            </a:extLst>
          </p:cNvPr>
          <p:cNvSpPr/>
          <p:nvPr/>
        </p:nvSpPr>
        <p:spPr>
          <a:xfrm>
            <a:off x="2542479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문제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4882F22-BCE7-4710-B271-245649986E39}"/>
              </a:ext>
            </a:extLst>
          </p:cNvPr>
          <p:cNvSpPr/>
          <p:nvPr/>
        </p:nvSpPr>
        <p:spPr>
          <a:xfrm>
            <a:off x="7720192" y="1478289"/>
            <a:ext cx="2274848" cy="91281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6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358C30-80E5-4B2B-AFA7-F33CFB30B6E2}"/>
              </a:ext>
            </a:extLst>
          </p:cNvPr>
          <p:cNvSpPr txBox="1"/>
          <p:nvPr/>
        </p:nvSpPr>
        <p:spPr>
          <a:xfrm>
            <a:off x="6582031" y="2391102"/>
            <a:ext cx="455116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8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내가</a:t>
            </a:r>
            <a:endParaRPr lang="en-US" altLang="ko-KR" sz="8800" dirty="0">
              <a:latin typeface="강원교육모두 Bold" panose="02020603020101020101" pitchFamily="18" charset="-127"/>
              <a:ea typeface="강원교육모두 Bold" panose="02020603020101020101" pitchFamily="18" charset="-127"/>
            </a:endParaRPr>
          </a:p>
          <a:p>
            <a:pPr algn="ctr"/>
            <a:r>
              <a:rPr lang="ko-KR" altLang="en-US" sz="88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맞춰요</a:t>
            </a:r>
            <a:r>
              <a:rPr lang="en-US" altLang="ko-KR" sz="8800" dirty="0">
                <a:latin typeface="강원교육모두 Bold" panose="02020603020101020101" pitchFamily="18" charset="-127"/>
                <a:ea typeface="강원교육모두 Bold" panose="02020603020101020101" pitchFamily="18" charset="-127"/>
              </a:rPr>
              <a:t>.</a:t>
            </a:r>
            <a:endParaRPr lang="ko-KR" altLang="en-US" sz="8800" dirty="0">
              <a:latin typeface="강원교육모두 Bold" panose="02020603020101020101" pitchFamily="18" charset="-127"/>
              <a:ea typeface="강원교육모두 Bold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6322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84023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&lt;활동3&gt; </a:t>
            </a:r>
            <a:r>
              <a:rPr lang="EN-US" altLang="en-US" sz="4000" b="1" dirty="0" err="1">
                <a:latin typeface="나눔고딕"/>
                <a:ea typeface="나눔고딕"/>
              </a:rPr>
              <a:t>도전</a:t>
            </a:r>
            <a:r>
              <a:rPr lang="en-US" altLang="en-US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문장 만나기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BB0C947-AECF-4EEF-A1D0-1A516F715D4B}"/>
              </a:ext>
            </a:extLst>
          </p:cNvPr>
          <p:cNvSpPr/>
          <p:nvPr/>
        </p:nvSpPr>
        <p:spPr>
          <a:xfrm>
            <a:off x="420030" y="2496359"/>
            <a:ext cx="11351940" cy="1643497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800" dirty="0" err="1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친</a:t>
            </a:r>
            <a:r>
              <a:rPr lang="ko-KR" altLang="en-US" sz="8800" dirty="0" err="1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구랑</a:t>
            </a:r>
            <a:r>
              <a:rPr lang="ko-KR" altLang="en-US" sz="8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 </a:t>
            </a:r>
            <a:r>
              <a:rPr lang="ko-KR" altLang="en-US" sz="8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8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개를 </a:t>
            </a:r>
            <a:r>
              <a:rPr lang="ko-KR" altLang="en-US" sz="8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찾</a:t>
            </a:r>
            <a:r>
              <a:rPr lang="ko-KR" altLang="en-US" sz="8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았어요</a:t>
            </a:r>
            <a:r>
              <a:rPr lang="en-US" altLang="ko-KR" sz="8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88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0" name="가로 글상자 5">
            <a:extLst>
              <a:ext uri="{FF2B5EF4-FFF2-40B4-BE49-F238E27FC236}">
                <a16:creationId xmlns:a16="http://schemas.microsoft.com/office/drawing/2014/main" id="{F9CC3CA8-7B67-490C-9157-508F10EAB950}"/>
              </a:ext>
            </a:extLst>
          </p:cNvPr>
          <p:cNvSpPr txBox="1"/>
          <p:nvPr/>
        </p:nvSpPr>
        <p:spPr>
          <a:xfrm>
            <a:off x="420030" y="1572366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주어진 문장을 동작과 함께 읽어보세요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BEC6FE7-5E4C-44E7-A3B3-FA8C8F27B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30" y="4270916"/>
            <a:ext cx="1268120" cy="120443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2EEC03A-16D3-43E3-9ABF-67C237C8ADB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6908"/>
          <a:stretch/>
        </p:blipFill>
        <p:spPr>
          <a:xfrm>
            <a:off x="3682728" y="4208691"/>
            <a:ext cx="1449659" cy="123320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0E70EEE8-8735-4EE1-BB34-F07125C26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6965" y="4256529"/>
            <a:ext cx="1268120" cy="120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797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84023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&lt;활동3&gt; </a:t>
            </a:r>
            <a:r>
              <a:rPr lang="EN-US" altLang="en-US" sz="4000" b="1" dirty="0" err="1">
                <a:latin typeface="나눔고딕"/>
                <a:ea typeface="나눔고딕"/>
              </a:rPr>
              <a:t>도전</a:t>
            </a:r>
            <a:r>
              <a:rPr lang="en-US" altLang="en-US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문장 만나기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0" name="가로 글상자 5">
            <a:extLst>
              <a:ext uri="{FF2B5EF4-FFF2-40B4-BE49-F238E27FC236}">
                <a16:creationId xmlns:a16="http://schemas.microsoft.com/office/drawing/2014/main" id="{F9CC3CA8-7B67-490C-9157-508F10EAB950}"/>
              </a:ext>
            </a:extLst>
          </p:cNvPr>
          <p:cNvSpPr txBox="1"/>
          <p:nvPr/>
        </p:nvSpPr>
        <p:spPr>
          <a:xfrm>
            <a:off x="420030" y="1572366"/>
            <a:ext cx="95407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주어진 문장을 동작과 함께 읽어보세요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2EEC03A-16D3-43E3-9ABF-67C237C8AD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908"/>
          <a:stretch/>
        </p:blipFill>
        <p:spPr>
          <a:xfrm>
            <a:off x="3682728" y="4208691"/>
            <a:ext cx="1449659" cy="1233209"/>
          </a:xfrm>
          <a:prstGeom prst="rect">
            <a:avLst/>
          </a:prstGeom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6B99069-1EA8-4964-853F-2C07170B97E1}"/>
              </a:ext>
            </a:extLst>
          </p:cNvPr>
          <p:cNvSpPr/>
          <p:nvPr/>
        </p:nvSpPr>
        <p:spPr>
          <a:xfrm>
            <a:off x="420030" y="2475571"/>
            <a:ext cx="11351941" cy="1664285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짝</a:t>
            </a:r>
            <a:r>
              <a:rPr lang="ko-KR" altLang="en-US" sz="8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꿍이 </a:t>
            </a:r>
            <a:r>
              <a:rPr lang="ko-KR" altLang="en-US" sz="8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지</a:t>
            </a:r>
            <a:r>
              <a:rPr lang="ko-KR" altLang="en-US" sz="8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우개를 </a:t>
            </a:r>
            <a:r>
              <a:rPr lang="ko-KR" altLang="en-US" sz="8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줬</a:t>
            </a:r>
            <a:r>
              <a:rPr lang="ko-KR" altLang="en-US" sz="8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어요</a:t>
            </a:r>
            <a:r>
              <a:rPr lang="en-US" altLang="ko-KR" sz="8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8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993FDD4-C6A7-45FC-A10F-D11989753D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901" b="12353"/>
          <a:stretch/>
        </p:blipFill>
        <p:spPr>
          <a:xfrm>
            <a:off x="584992" y="4226833"/>
            <a:ext cx="1288414" cy="132292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50D0EC4-5B74-4956-85DC-86C86B70777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908"/>
          <a:stretch/>
        </p:blipFill>
        <p:spPr>
          <a:xfrm>
            <a:off x="8083743" y="4208690"/>
            <a:ext cx="1449659" cy="123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05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73421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&lt;활동3&gt; </a:t>
            </a:r>
            <a:r>
              <a:rPr lang="EN-US" altLang="en-US" sz="4000" b="1" dirty="0" err="1">
                <a:latin typeface="나눔고딕"/>
                <a:ea typeface="나눔고딕"/>
              </a:rPr>
              <a:t>도전</a:t>
            </a:r>
            <a:r>
              <a:rPr lang="en-US" altLang="en-US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문장 만나기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BB0C947-AECF-4EEF-A1D0-1A516F715D4B}"/>
              </a:ext>
            </a:extLst>
          </p:cNvPr>
          <p:cNvSpPr/>
          <p:nvPr/>
        </p:nvSpPr>
        <p:spPr>
          <a:xfrm>
            <a:off x="457199" y="1170878"/>
            <a:ext cx="11351941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err="1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친</a:t>
            </a:r>
            <a:r>
              <a:rPr lang="ko-KR" altLang="en-US" sz="4800" dirty="0" err="1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구랑</a:t>
            </a:r>
            <a:r>
              <a:rPr lang="ko-KR" altLang="en-US" sz="4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 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개를 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찾</a:t>
            </a:r>
            <a:r>
              <a:rPr lang="ko-KR" altLang="en-US" sz="4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았어요</a:t>
            </a:r>
            <a:r>
              <a:rPr lang="en-US" altLang="ko-KR" sz="4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E811CB1-6A15-46EF-86C1-C9030D30119E}"/>
              </a:ext>
            </a:extLst>
          </p:cNvPr>
          <p:cNvSpPr/>
          <p:nvPr/>
        </p:nvSpPr>
        <p:spPr>
          <a:xfrm>
            <a:off x="457199" y="2008282"/>
            <a:ext cx="11351941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짝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꿍이 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지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우개를 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줬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어요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56FBC50-5D52-47D6-936B-BABB7F873270}"/>
              </a:ext>
            </a:extLst>
          </p:cNvPr>
          <p:cNvSpPr/>
          <p:nvPr/>
        </p:nvSpPr>
        <p:spPr>
          <a:xfrm>
            <a:off x="457199" y="2845686"/>
            <a:ext cx="11351941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김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치찌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개가 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말 맛있어요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BF4EA18-C6F1-4C89-8197-A67281DD3D0B}"/>
              </a:ext>
            </a:extLst>
          </p:cNvPr>
          <p:cNvSpPr/>
          <p:nvPr/>
        </p:nvSpPr>
        <p:spPr>
          <a:xfrm>
            <a:off x="457199" y="3682891"/>
            <a:ext cx="11351941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주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스를 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차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에서 </a:t>
            </a:r>
            <a:r>
              <a:rPr lang="ko-KR" altLang="en-US" sz="4800" dirty="0" err="1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 err="1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심히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 마셔요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B131562-98CC-45CD-AA3E-87EDF7DC32A4}"/>
              </a:ext>
            </a:extLst>
          </p:cNvPr>
          <p:cNvSpPr/>
          <p:nvPr/>
        </p:nvSpPr>
        <p:spPr>
          <a:xfrm>
            <a:off x="457199" y="4536862"/>
            <a:ext cx="11351941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용히 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자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리에 앉아서 책을 읽어요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F4AF36A-27A1-41CB-93DC-C36D538991E9}"/>
              </a:ext>
            </a:extLst>
          </p:cNvPr>
          <p:cNvSpPr/>
          <p:nvPr/>
        </p:nvSpPr>
        <p:spPr>
          <a:xfrm>
            <a:off x="457199" y="5390833"/>
            <a:ext cx="11351941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지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렁이가 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각 케이크 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주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변을 기어가요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0437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84023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&lt;활동3&gt; </a:t>
            </a:r>
            <a:r>
              <a:rPr lang="EN-US" altLang="en-US" sz="4000" b="1" dirty="0" err="1">
                <a:latin typeface="나눔고딕"/>
                <a:ea typeface="나눔고딕"/>
              </a:rPr>
              <a:t>도전</a:t>
            </a:r>
            <a:r>
              <a:rPr lang="en-US" altLang="en-US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문장 만나기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0" name="가로 글상자 5">
            <a:extLst>
              <a:ext uri="{FF2B5EF4-FFF2-40B4-BE49-F238E27FC236}">
                <a16:creationId xmlns:a16="http://schemas.microsoft.com/office/drawing/2014/main" id="{F9CC3CA8-7B67-490C-9157-508F10EAB950}"/>
              </a:ext>
            </a:extLst>
          </p:cNvPr>
          <p:cNvSpPr txBox="1"/>
          <p:nvPr/>
        </p:nvSpPr>
        <p:spPr>
          <a:xfrm>
            <a:off x="420029" y="1032908"/>
            <a:ext cx="1157353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0" indent="-742950">
              <a:buAutoNum type="arabicPeriod"/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단어 카드를 하나씩 골라요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</a:p>
          <a:p>
            <a:pPr marL="742950" lvl="0" indent="-742950">
              <a:buAutoNum type="arabicPeriod"/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단어 카드를 조합해서 하나의 문장을 만들어요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</a:p>
          <a:p>
            <a:pPr marL="742950" lvl="0" indent="-742950">
              <a:buAutoNum type="arabicPeriod"/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동작과 함께 문장을 읽어요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AF314FF-8B7F-43B6-9A7C-6F49D0A6CC67}"/>
              </a:ext>
            </a:extLst>
          </p:cNvPr>
          <p:cNvSpPr/>
          <p:nvPr/>
        </p:nvSpPr>
        <p:spPr>
          <a:xfrm>
            <a:off x="1649663" y="3913235"/>
            <a:ext cx="2497874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err="1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친</a:t>
            </a:r>
            <a:r>
              <a:rPr lang="ko-KR" altLang="en-US" sz="4800" dirty="0" err="1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구랑</a:t>
            </a:r>
            <a:endParaRPr lang="ko-KR" altLang="en-US" sz="48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619334E-BE10-4614-9F1C-CF2371643A7F}"/>
              </a:ext>
            </a:extLst>
          </p:cNvPr>
          <p:cNvSpPr/>
          <p:nvPr/>
        </p:nvSpPr>
        <p:spPr>
          <a:xfrm>
            <a:off x="1649663" y="4793358"/>
            <a:ext cx="2497874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지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우개를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57A7AD-763E-4256-9F3A-ED4C2B7E6596}"/>
              </a:ext>
            </a:extLst>
          </p:cNvPr>
          <p:cNvSpPr/>
          <p:nvPr/>
        </p:nvSpPr>
        <p:spPr>
          <a:xfrm>
            <a:off x="4343786" y="3921518"/>
            <a:ext cx="1666760" cy="708262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말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789A5CD-EED1-4471-A345-40392C3BCE9E}"/>
              </a:ext>
            </a:extLst>
          </p:cNvPr>
          <p:cNvSpPr/>
          <p:nvPr/>
        </p:nvSpPr>
        <p:spPr>
          <a:xfrm>
            <a:off x="6206796" y="3919091"/>
            <a:ext cx="2029523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err="1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 err="1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심히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 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5EC7B9C-0C6D-4C1F-917E-C493F140C191}"/>
              </a:ext>
            </a:extLst>
          </p:cNvPr>
          <p:cNvSpPr/>
          <p:nvPr/>
        </p:nvSpPr>
        <p:spPr>
          <a:xfrm>
            <a:off x="4343786" y="4833493"/>
            <a:ext cx="3638670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각케이크를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8EA4707-D95D-4E55-90DD-2790D4FB9A48}"/>
              </a:ext>
            </a:extLst>
          </p:cNvPr>
          <p:cNvSpPr/>
          <p:nvPr/>
        </p:nvSpPr>
        <p:spPr>
          <a:xfrm>
            <a:off x="8178705" y="4833492"/>
            <a:ext cx="2341410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주워요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F7FB5C8-1EDA-49F8-A3FF-FD1202AA6822}"/>
              </a:ext>
            </a:extLst>
          </p:cNvPr>
          <p:cNvSpPr/>
          <p:nvPr/>
        </p:nvSpPr>
        <p:spPr>
          <a:xfrm>
            <a:off x="692518" y="3324564"/>
            <a:ext cx="11028556" cy="2638712"/>
          </a:xfrm>
          <a:prstGeom prst="round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878D560-2282-4319-B6D3-5ED61093118A}"/>
              </a:ext>
            </a:extLst>
          </p:cNvPr>
          <p:cNvSpPr/>
          <p:nvPr/>
        </p:nvSpPr>
        <p:spPr>
          <a:xfrm>
            <a:off x="5177166" y="3027390"/>
            <a:ext cx="1666760" cy="60418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1434619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84023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&lt;활동3&gt; </a:t>
            </a:r>
            <a:r>
              <a:rPr lang="EN-US" altLang="en-US" sz="4000" b="1" dirty="0" err="1">
                <a:latin typeface="나눔고딕"/>
                <a:ea typeface="나눔고딕"/>
              </a:rPr>
              <a:t>도전</a:t>
            </a:r>
            <a:r>
              <a:rPr lang="en-US" altLang="en-US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문장 만나기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0" name="가로 글상자 5">
            <a:extLst>
              <a:ext uri="{FF2B5EF4-FFF2-40B4-BE49-F238E27FC236}">
                <a16:creationId xmlns:a16="http://schemas.microsoft.com/office/drawing/2014/main" id="{F9CC3CA8-7B67-490C-9157-508F10EAB950}"/>
              </a:ext>
            </a:extLst>
          </p:cNvPr>
          <p:cNvSpPr txBox="1"/>
          <p:nvPr/>
        </p:nvSpPr>
        <p:spPr>
          <a:xfrm>
            <a:off x="420029" y="1032908"/>
            <a:ext cx="1157353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0" indent="-742950">
              <a:buAutoNum type="arabicPeriod"/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단어 카드를 하나씩 골라요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</a:p>
          <a:p>
            <a:pPr marL="742950" lvl="0" indent="-742950">
              <a:buAutoNum type="arabicPeriod"/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단어 카드를 조합해서 하나의 문장을 만들어요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</a:p>
          <a:p>
            <a:pPr marL="742950" lvl="0" indent="-742950">
              <a:buAutoNum type="arabicPeriod"/>
              <a:defRPr/>
            </a:pPr>
            <a:r>
              <a:rPr lang="ko-KR" altLang="en-US" sz="4000" b="1" dirty="0">
                <a:latin typeface="나눔고딕"/>
                <a:ea typeface="나눔고딕"/>
              </a:rPr>
              <a:t>동작과 함께 문장을 읽어요</a:t>
            </a:r>
            <a:r>
              <a:rPr lang="en-US" altLang="ko-KR" sz="4000" b="1" dirty="0">
                <a:latin typeface="나눔고딕"/>
                <a:ea typeface="나눔고딕"/>
              </a:rPr>
              <a:t>.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AF314FF-8B7F-43B6-9A7C-6F49D0A6CC67}"/>
              </a:ext>
            </a:extLst>
          </p:cNvPr>
          <p:cNvSpPr/>
          <p:nvPr/>
        </p:nvSpPr>
        <p:spPr>
          <a:xfrm>
            <a:off x="1269215" y="4207447"/>
            <a:ext cx="2497874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err="1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친</a:t>
            </a:r>
            <a:r>
              <a:rPr lang="ko-KR" altLang="en-US" sz="4800" dirty="0" err="1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구랑</a:t>
            </a:r>
            <a:endParaRPr lang="ko-KR" altLang="en-US" sz="48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619334E-BE10-4614-9F1C-CF2371643A7F}"/>
              </a:ext>
            </a:extLst>
          </p:cNvPr>
          <p:cNvSpPr/>
          <p:nvPr/>
        </p:nvSpPr>
        <p:spPr>
          <a:xfrm>
            <a:off x="3848310" y="4194676"/>
            <a:ext cx="2497874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지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우개를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789A5CD-EED1-4471-A345-40392C3BCE9E}"/>
              </a:ext>
            </a:extLst>
          </p:cNvPr>
          <p:cNvSpPr/>
          <p:nvPr/>
        </p:nvSpPr>
        <p:spPr>
          <a:xfrm>
            <a:off x="6427405" y="4207447"/>
            <a:ext cx="2029523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err="1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 err="1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심히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 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8EA4707-D95D-4E55-90DD-2790D4FB9A48}"/>
              </a:ext>
            </a:extLst>
          </p:cNvPr>
          <p:cNvSpPr/>
          <p:nvPr/>
        </p:nvSpPr>
        <p:spPr>
          <a:xfrm>
            <a:off x="8516984" y="4207447"/>
            <a:ext cx="2341410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주워요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F7FB5C8-1EDA-49F8-A3FF-FD1202AA6822}"/>
              </a:ext>
            </a:extLst>
          </p:cNvPr>
          <p:cNvSpPr/>
          <p:nvPr/>
        </p:nvSpPr>
        <p:spPr>
          <a:xfrm>
            <a:off x="692518" y="3324564"/>
            <a:ext cx="11028556" cy="2638712"/>
          </a:xfrm>
          <a:prstGeom prst="roundRect">
            <a:avLst/>
          </a:prstGeom>
          <a:noFill/>
          <a:ln w="762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878D560-2282-4319-B6D3-5ED61093118A}"/>
              </a:ext>
            </a:extLst>
          </p:cNvPr>
          <p:cNvSpPr/>
          <p:nvPr/>
        </p:nvSpPr>
        <p:spPr>
          <a:xfrm>
            <a:off x="5177166" y="3027390"/>
            <a:ext cx="1666760" cy="604188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예시</a:t>
            </a:r>
          </a:p>
        </p:txBody>
      </p:sp>
    </p:spTree>
    <p:extLst>
      <p:ext uri="{BB962C8B-B14F-4D97-AF65-F5344CB8AC3E}">
        <p14:creationId xmlns:p14="http://schemas.microsoft.com/office/powerpoint/2010/main" val="2792787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0"/>
            <a:ext cx="734218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 sz="4000" b="1" dirty="0">
                <a:latin typeface="나눔고딕"/>
                <a:ea typeface="나눔고딕"/>
              </a:rPr>
              <a:t>&lt;활동3&gt; </a:t>
            </a:r>
            <a:r>
              <a:rPr lang="EN-US" altLang="en-US" sz="4000" b="1" dirty="0" err="1">
                <a:latin typeface="나눔고딕"/>
                <a:ea typeface="나눔고딕"/>
              </a:rPr>
              <a:t>도전</a:t>
            </a:r>
            <a:r>
              <a:rPr lang="en-US" altLang="en-US" sz="4000" b="1" dirty="0">
                <a:latin typeface="나눔고딕"/>
                <a:ea typeface="나눔고딕"/>
              </a:rPr>
              <a:t>! </a:t>
            </a:r>
            <a:r>
              <a:rPr lang="ko-KR" altLang="en-US" sz="4000" b="1" dirty="0">
                <a:latin typeface="나눔고딕"/>
                <a:ea typeface="나눔고딕"/>
              </a:rPr>
              <a:t>문장 만나기</a:t>
            </a:r>
            <a:endParaRPr lang="EN-US" altLang="en-US" sz="4000" b="1" dirty="0">
              <a:latin typeface="나눔고딕"/>
              <a:ea typeface="나눔고딕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BB0C947-AECF-4EEF-A1D0-1A516F715D4B}"/>
              </a:ext>
            </a:extLst>
          </p:cNvPr>
          <p:cNvSpPr/>
          <p:nvPr/>
        </p:nvSpPr>
        <p:spPr>
          <a:xfrm>
            <a:off x="457200" y="1170878"/>
            <a:ext cx="2497874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err="1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친</a:t>
            </a:r>
            <a:r>
              <a:rPr lang="ko-KR" altLang="en-US" sz="4800" dirty="0" err="1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구랑</a:t>
            </a:r>
            <a:endParaRPr lang="ko-KR" altLang="en-US" sz="48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E811CB1-6A15-46EF-86C1-C9030D30119E}"/>
              </a:ext>
            </a:extLst>
          </p:cNvPr>
          <p:cNvSpPr/>
          <p:nvPr/>
        </p:nvSpPr>
        <p:spPr>
          <a:xfrm>
            <a:off x="457200" y="2008282"/>
            <a:ext cx="2497874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짝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꿍이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56FBC50-5D52-47D6-936B-BABB7F873270}"/>
              </a:ext>
            </a:extLst>
          </p:cNvPr>
          <p:cNvSpPr/>
          <p:nvPr/>
        </p:nvSpPr>
        <p:spPr>
          <a:xfrm>
            <a:off x="457199" y="2845686"/>
            <a:ext cx="3122341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김</a:t>
            </a:r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치찌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개가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BF4EA18-C6F1-4C89-8197-A67281DD3D0B}"/>
              </a:ext>
            </a:extLst>
          </p:cNvPr>
          <p:cNvSpPr/>
          <p:nvPr/>
        </p:nvSpPr>
        <p:spPr>
          <a:xfrm>
            <a:off x="457199" y="3682891"/>
            <a:ext cx="2029523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주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스를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B131562-98CC-45CD-AA3E-87EDF7DC32A4}"/>
              </a:ext>
            </a:extLst>
          </p:cNvPr>
          <p:cNvSpPr/>
          <p:nvPr/>
        </p:nvSpPr>
        <p:spPr>
          <a:xfrm>
            <a:off x="457199" y="4536862"/>
            <a:ext cx="2029523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용히 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F4AF36A-27A1-41CB-93DC-C36D538991E9}"/>
              </a:ext>
            </a:extLst>
          </p:cNvPr>
          <p:cNvSpPr/>
          <p:nvPr/>
        </p:nvSpPr>
        <p:spPr>
          <a:xfrm>
            <a:off x="457199" y="5390833"/>
            <a:ext cx="2650275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지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렁이가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E68E7E4-BD21-477A-8C89-F8FF54EA295E}"/>
              </a:ext>
            </a:extLst>
          </p:cNvPr>
          <p:cNvSpPr/>
          <p:nvPr/>
        </p:nvSpPr>
        <p:spPr>
          <a:xfrm>
            <a:off x="3107474" y="1170877"/>
            <a:ext cx="2497874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개를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288423F-7A1D-401E-A546-FCC2FD5F7B5A}"/>
              </a:ext>
            </a:extLst>
          </p:cNvPr>
          <p:cNvSpPr/>
          <p:nvPr/>
        </p:nvSpPr>
        <p:spPr>
          <a:xfrm>
            <a:off x="5757748" y="1170876"/>
            <a:ext cx="2497874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찾</a:t>
            </a:r>
            <a:r>
              <a:rPr lang="ko-KR" altLang="en-US" sz="4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았어요</a:t>
            </a:r>
            <a:r>
              <a:rPr lang="en-US" altLang="ko-KR" sz="4800" dirty="0"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BFD8E6C-2B6C-412F-8B8B-9F81479FFA48}"/>
              </a:ext>
            </a:extLst>
          </p:cNvPr>
          <p:cNvSpPr/>
          <p:nvPr/>
        </p:nvSpPr>
        <p:spPr>
          <a:xfrm>
            <a:off x="3107474" y="2008082"/>
            <a:ext cx="2497874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지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우개를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1D7081E-12A5-44D2-A9F9-7DE0E44A1674}"/>
              </a:ext>
            </a:extLst>
          </p:cNvPr>
          <p:cNvSpPr/>
          <p:nvPr/>
        </p:nvSpPr>
        <p:spPr>
          <a:xfrm>
            <a:off x="5757748" y="1989060"/>
            <a:ext cx="2497874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줬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어요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4409115-5184-4927-9CF1-B5AB65AE75FC}"/>
              </a:ext>
            </a:extLst>
          </p:cNvPr>
          <p:cNvSpPr/>
          <p:nvPr/>
        </p:nvSpPr>
        <p:spPr>
          <a:xfrm>
            <a:off x="3752733" y="2845686"/>
            <a:ext cx="1666760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정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말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BEAB62CB-4F46-488C-9324-4CFC90ADBCEF}"/>
              </a:ext>
            </a:extLst>
          </p:cNvPr>
          <p:cNvSpPr/>
          <p:nvPr/>
        </p:nvSpPr>
        <p:spPr>
          <a:xfrm>
            <a:off x="2737971" y="3682891"/>
            <a:ext cx="2029523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차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에서 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E155EEC-6151-4BB1-B36C-9BE613D04FCB}"/>
              </a:ext>
            </a:extLst>
          </p:cNvPr>
          <p:cNvSpPr/>
          <p:nvPr/>
        </p:nvSpPr>
        <p:spPr>
          <a:xfrm>
            <a:off x="4977162" y="3682891"/>
            <a:ext cx="2029523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 err="1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 err="1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심히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 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9A4E936-FFBD-4397-A053-19B83AC0136D}"/>
              </a:ext>
            </a:extLst>
          </p:cNvPr>
          <p:cNvSpPr/>
          <p:nvPr/>
        </p:nvSpPr>
        <p:spPr>
          <a:xfrm>
            <a:off x="2737971" y="4536862"/>
            <a:ext cx="2029523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자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리에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FEA821E-E77C-4638-97E1-40A5630B41CC}"/>
              </a:ext>
            </a:extLst>
          </p:cNvPr>
          <p:cNvSpPr/>
          <p:nvPr/>
        </p:nvSpPr>
        <p:spPr>
          <a:xfrm>
            <a:off x="3368015" y="5390833"/>
            <a:ext cx="3638670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조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각케이크를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E40671E8-A1AD-481C-9679-7A6635FD61BA}"/>
              </a:ext>
            </a:extLst>
          </p:cNvPr>
          <p:cNvSpPr/>
          <p:nvPr/>
        </p:nvSpPr>
        <p:spPr>
          <a:xfrm>
            <a:off x="7084917" y="5390833"/>
            <a:ext cx="2341410" cy="724829"/>
          </a:xfrm>
          <a:prstGeom prst="roundRect">
            <a:avLst/>
          </a:prstGeom>
          <a:solidFill>
            <a:srgbClr val="B9C8E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800" dirty="0">
                <a:solidFill>
                  <a:srgbClr val="FB5230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주</a:t>
            </a:r>
            <a:r>
              <a:rPr lang="ko-KR" altLang="en-US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워요</a:t>
            </a:r>
            <a:r>
              <a:rPr lang="en-US" altLang="ko-KR" sz="4800" dirty="0">
                <a:solidFill>
                  <a:schemeClr val="bg1"/>
                </a:solidFill>
                <a:latin typeface="강원교육튼튼" panose="02020603020101020101" pitchFamily="18" charset="-127"/>
                <a:ea typeface="강원교육튼튼" panose="02020603020101020101" pitchFamily="18" charset="-127"/>
              </a:rPr>
              <a:t>.</a:t>
            </a:r>
            <a:endParaRPr lang="ko-KR" altLang="en-US" sz="4800" dirty="0">
              <a:solidFill>
                <a:schemeClr val="bg1"/>
              </a:solidFill>
              <a:latin typeface="강원교육튼튼" panose="02020603020101020101" pitchFamily="18" charset="-127"/>
              <a:ea typeface="강원교육튼튼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95732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821279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짝꿍 낱말 카드를 다시 읽어보세요</a:t>
            </a:r>
            <a:r>
              <a:rPr lang="en-US" altLang="ko-KR" sz="4000" b="1">
                <a:latin typeface="나눔고딕"/>
                <a:ea typeface="나눔고딕"/>
              </a:rPr>
              <a:t>.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800219"/>
            <a:chOff x="10001252" y="0"/>
            <a:chExt cx="2063749" cy="800219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8002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BD28385E-5AC1-4833-B36E-7AAFDE66F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7" y="1401631"/>
            <a:ext cx="3329802" cy="223041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A1188C4-D603-42B9-9557-EB86325499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689" y="3720506"/>
            <a:ext cx="3353530" cy="223041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6E6E815-F953-4EBF-A8DA-8B9AC1987D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447" y="1446275"/>
            <a:ext cx="3202740" cy="218801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6302170-70EC-4AE0-A116-96EFF5906A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611" y="3700497"/>
            <a:ext cx="3209234" cy="224941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11CD4E7-BD0F-4073-9389-9F9ECFBE36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0092" y="1405190"/>
            <a:ext cx="3306698" cy="226899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81121345-CA01-43DA-B7B0-99A2C14892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092" y="3705558"/>
            <a:ext cx="3353530" cy="225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528801"/>
      </p:ext>
    </p:extLst>
  </p:cSld>
  <p:clrMapOvr>
    <a:masterClrMapping/>
  </p:clrMapOvr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912813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0" y="6453187"/>
            <a:ext cx="12192000" cy="254001"/>
          </a:xfrm>
          <a:prstGeom prst="rect">
            <a:avLst/>
          </a:prstGeom>
          <a:solidFill>
            <a:srgbClr val="FFF7CC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가로 글상자 5"/>
          <p:cNvSpPr txBox="1"/>
          <p:nvPr/>
        </p:nvSpPr>
        <p:spPr>
          <a:xfrm>
            <a:off x="206375" y="108901"/>
            <a:ext cx="7342187" cy="69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000" b="1">
                <a:latin typeface="나눔고딕"/>
                <a:ea typeface="나눔고딕"/>
              </a:rPr>
              <a:t>숙제 안내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10001252" y="0"/>
            <a:ext cx="2063749" cy="1154162"/>
            <a:chOff x="10001252" y="0"/>
            <a:chExt cx="2063749" cy="1154162"/>
          </a:xfrm>
        </p:grpSpPr>
        <p:sp>
          <p:nvSpPr>
            <p:cNvPr id="8" name="양쪽 모서리가 둥근 사각형 6"/>
            <p:cNvSpPr/>
            <p:nvPr/>
          </p:nvSpPr>
          <p:spPr>
            <a:xfrm flipV="1">
              <a:off x="10001252" y="0"/>
              <a:ext cx="2063749" cy="788670"/>
            </a:xfrm>
            <a:prstGeom prst="round2SameRect">
              <a:avLst>
                <a:gd name="adj1" fmla="val 16667"/>
                <a:gd name="adj2" fmla="val 0"/>
              </a:avLst>
            </a:prstGeom>
            <a:solidFill>
              <a:srgbClr val="FFE766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9" name="가로 글상자 7"/>
            <p:cNvSpPr txBox="1"/>
            <p:nvPr/>
          </p:nvSpPr>
          <p:spPr>
            <a:xfrm>
              <a:off x="10128251" y="0"/>
              <a:ext cx="1865312" cy="11541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2300" dirty="0">
                  <a:latin typeface="강원교육모두 Bold"/>
                  <a:ea typeface="강원교육모두 Bold"/>
                </a:rPr>
                <a:t>(3/6)</a:t>
              </a:r>
              <a:r>
                <a:rPr lang="ko-KR" altLang="en-US" sz="2300" dirty="0">
                  <a:latin typeface="강원교육모두 Bold"/>
                  <a:ea typeface="강원교육모두 Bold"/>
                </a:rPr>
                <a:t> 툭</a:t>
              </a:r>
              <a:r>
                <a:rPr lang="en-US" altLang="ko-KR" sz="2300" dirty="0">
                  <a:latin typeface="강원교육모두 Bold"/>
                  <a:ea typeface="강원교육모두 Bold"/>
                </a:rPr>
                <a:t>!</a:t>
              </a:r>
            </a:p>
            <a:p>
              <a:pPr lvl="0" algn="ctr">
                <a:defRPr/>
              </a:pPr>
              <a:r>
                <a:rPr lang="ko-KR" altLang="en-US" sz="2300" dirty="0">
                  <a:latin typeface="강원교육모두 Bold"/>
                  <a:ea typeface="강원교육모두 Bold"/>
                </a:rPr>
                <a:t>열리는 </a:t>
              </a:r>
              <a:r>
                <a:rPr lang="ko-KR" altLang="en-US" sz="2300" dirty="0" err="1">
                  <a:latin typeface="강원교육모두 Bold"/>
                  <a:ea typeface="강원교육모두 Bold"/>
                </a:rPr>
                <a:t>소리문</a:t>
              </a:r>
              <a:endParaRPr lang="en-US" altLang="ko-KR" sz="2300" dirty="0">
                <a:latin typeface="강원교육모두 Bold"/>
                <a:ea typeface="강원교육모두 Bold"/>
              </a:endParaRPr>
            </a:p>
            <a:p>
              <a:pPr lvl="0" algn="ctr">
                <a:defRPr/>
              </a:pPr>
              <a:endParaRPr lang="en-US" altLang="ko-KR" sz="2300" dirty="0">
                <a:latin typeface="강원교육모두 Bold"/>
                <a:ea typeface="강원교육모두 Bold"/>
              </a:endParaRPr>
            </a:p>
          </p:txBody>
        </p:sp>
      </p:grpSp>
      <p:sp>
        <p:nvSpPr>
          <p:cNvPr id="10" name="가로 글상자 5"/>
          <p:cNvSpPr txBox="1"/>
          <p:nvPr/>
        </p:nvSpPr>
        <p:spPr>
          <a:xfrm>
            <a:off x="309233" y="2480235"/>
            <a:ext cx="11573534" cy="2280360"/>
          </a:xfrm>
          <a:prstGeom prst="rect">
            <a:avLst/>
          </a:prstGeom>
        </p:spPr>
        <p:txBody>
          <a:bodyPr vert="horz" wrap="square" lIns="91440" tIns="45720" rIns="91440" bIns="45720" anchor="t">
            <a:spAutoFit/>
          </a:bodyPr>
          <a:lstStyle/>
          <a:p>
            <a:pPr marL="742950" lvl="0" indent="-742950">
              <a:lnSpc>
                <a:spcPct val="120000"/>
              </a:lnSpc>
              <a:buAutoNum type="arabicPeriod"/>
              <a:defRPr/>
            </a:pPr>
            <a:r>
              <a:rPr lang="ko-KR" altLang="en-US" sz="6000" b="1">
                <a:solidFill>
                  <a:schemeClr val="tx1"/>
                </a:solidFill>
                <a:latin typeface="나눔고딕"/>
                <a:ea typeface="나눔고딕"/>
              </a:rPr>
              <a:t>활동 </a:t>
            </a:r>
            <a:r>
              <a:rPr lang="en-US" altLang="ko-KR" sz="6000" b="1">
                <a:solidFill>
                  <a:schemeClr val="tx1"/>
                </a:solidFill>
                <a:latin typeface="나눔고딕"/>
                <a:ea typeface="나눔고딕"/>
              </a:rPr>
              <a:t>3</a:t>
            </a:r>
            <a:r>
              <a:rPr lang="ko-KR" altLang="en-US" sz="6000" b="1">
                <a:solidFill>
                  <a:schemeClr val="tx1"/>
                </a:solidFill>
                <a:latin typeface="나눔고딕"/>
                <a:ea typeface="나눔고딕"/>
              </a:rPr>
              <a:t>에서 만든 문장 복습하기</a:t>
            </a:r>
            <a:endParaRPr lang="ko-KR" altLang="en-US" sz="6000" b="1">
              <a:solidFill>
                <a:schemeClr val="tx1"/>
              </a:solidFill>
              <a:latin typeface="나눔고딕"/>
              <a:ea typeface="나눔고딕"/>
            </a:endParaRPr>
          </a:p>
          <a:p>
            <a:pPr marL="742950" lvl="0" indent="-742950">
              <a:lnSpc>
                <a:spcPct val="120000"/>
              </a:lnSpc>
              <a:buAutoNum type="arabicPeriod"/>
              <a:defRPr/>
            </a:pPr>
            <a:r>
              <a:rPr lang="ko-KR" altLang="en-US" sz="6000" b="1">
                <a:solidFill>
                  <a:schemeClr val="tx1"/>
                </a:solidFill>
                <a:latin typeface="나눔고딕"/>
                <a:ea typeface="나눔고딕"/>
              </a:rPr>
              <a:t>만든 문장 </a:t>
            </a:r>
            <a:r>
              <a:rPr lang="en-US" altLang="ko-KR" sz="6000" b="1">
                <a:solidFill>
                  <a:schemeClr val="tx1"/>
                </a:solidFill>
                <a:latin typeface="나눔고딕"/>
                <a:ea typeface="나눔고딕"/>
              </a:rPr>
              <a:t>3</a:t>
            </a:r>
            <a:r>
              <a:rPr lang="ko-KR" altLang="en-US" sz="6000" b="1">
                <a:solidFill>
                  <a:schemeClr val="tx1"/>
                </a:solidFill>
                <a:latin typeface="나눔고딕"/>
                <a:ea typeface="나눔고딕"/>
              </a:rPr>
              <a:t>번씩 읽기</a:t>
            </a:r>
            <a:endParaRPr lang="EN-US" altLang="en-US" sz="6000" b="1">
              <a:solidFill>
                <a:schemeClr val="tx1"/>
              </a:solidFill>
              <a:latin typeface="나눔고딕"/>
              <a:ea typeface="나눔고딕"/>
            </a:endParaRPr>
          </a:p>
        </p:txBody>
      </p:sp>
    </p:spTree>
    <p:extLst>
      <p:ext uri="{BB962C8B-B14F-4D97-AF65-F5344CB8AC3E}">
        <p14:creationId xmlns:p14="http://schemas.microsoft.com/office/powerpoint/2010/main" val="20890450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1133</ep:Words>
  <ep:PresentationFormat>와이드스크린</ep:PresentationFormat>
  <ep:Paragraphs>236</ep:Paragraphs>
  <ep:Slides>24</ep:Slides>
  <ep:Notes>23</ep:Notes>
  <ep:TotalTime>0</ep:TotalTime>
  <ep:HiddenSlides>1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ep:HeadingPairs>
  <ep:TitlesOfParts>
    <vt:vector size="25" baseType="lpstr">
      <vt:lpstr>한컴오피스</vt:lpstr>
      <vt:lpstr>슬라이드 1</vt:lpstr>
      <vt:lpstr>슬라이드 2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2026-05-21T14:39:51.000</dcterms:created>
  <dc:creator>sophi</dc:creator>
  <cp:lastModifiedBy>sophi</cp:lastModifiedBy>
  <dcterms:modified xsi:type="dcterms:W3CDTF">2026-07-03T14:46:07.621</dcterms:modified>
  <cp:revision>90</cp:revision>
  <dc:title>PowerPoint 프레젠테이션</dc:title>
  <cp:version>13.0.0.3380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