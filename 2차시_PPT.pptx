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wdp" ContentType="image/vnd.ms-photo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9" r:id="rId3"/>
    <p:sldId id="257" r:id="rId4"/>
    <p:sldId id="273" r:id="rId5"/>
    <p:sldId id="258" r:id="rId6"/>
    <p:sldId id="282" r:id="rId7"/>
    <p:sldId id="283" r:id="rId8"/>
    <p:sldId id="284" r:id="rId9"/>
    <p:sldId id="285" r:id="rId10"/>
    <p:sldId id="286" r:id="rId11"/>
    <p:sldId id="268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80" r:id="rId20"/>
    <p:sldId id="298" r:id="rId21"/>
    <p:sldId id="296" r:id="rId22"/>
    <p:sldId id="299" r:id="rId23"/>
    <p:sldId id="262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A12D1B81-FAC2-49A0-9AE4-3A3035D30CFA}" name="교사용 참고 자료">
          <p14:sldIdLst>
            <p14:sldId id="279"/>
          </p14:sldIdLst>
        </p14:section>
        <p14:section id="{6682FD54-BAD8-4B84-80FB-EE057C707963}" name="수업">
          <p14:sldIdLst>
            <p14:sldId id="257"/>
            <p14:sldId id="273"/>
            <p14:sldId id="258"/>
            <p14:sldId id="282"/>
            <p14:sldId id="283"/>
            <p14:sldId id="284"/>
            <p14:sldId id="285"/>
            <p14:sldId id="286"/>
            <p14:sldId id="268"/>
            <p14:sldId id="287"/>
            <p14:sldId id="288"/>
            <p14:sldId id="289"/>
            <p14:sldId id="290"/>
            <p14:sldId id="291"/>
            <p14:sldId id="292"/>
            <p14:sldId id="293"/>
            <p14:sldId id="280"/>
            <p14:sldId id="298"/>
            <p14:sldId id="296"/>
            <p14:sldId id="299"/>
            <p14:sldId id="262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76287"/>
  </p:normalViewPr>
  <p:slideViewPr>
    <p:cSldViewPr snapToGrid="0" snapToObjects="1">
      <p:cViewPr>
        <p:scale>
          <a:sx n="120" d="100"/>
          <a:sy n="120" d="100"/>
        </p:scale>
        <p:origin x="1548" y="7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506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*</a:t>
            </a:r>
            <a:r>
              <a:rPr lang="ko-KR" altLang="en-US"/>
              <a:t>이미지 출처</a:t>
            </a:r>
            <a:r>
              <a:rPr lang="en-US" altLang="ko-KR"/>
              <a:t>:</a:t>
            </a:r>
            <a:r>
              <a:rPr lang="ko-KR" altLang="en-US"/>
              <a:t> 미리캔버스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9631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*AI</a:t>
            </a:r>
            <a:r>
              <a:rPr lang="ko-KR" altLang="en-US"/>
              <a:t> 활용 이미지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978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학습지 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en-US" altLang="ko-KR"/>
              <a:t>(</a:t>
            </a:r>
            <a:r>
              <a:rPr lang="ko-KR" altLang="en-US"/>
              <a:t>겹받침</a:t>
            </a:r>
            <a:r>
              <a:rPr lang="en-US" altLang="ko-KR"/>
              <a:t>)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85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＇응가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’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라고 발음하면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‘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가＇를 발음할 때 혀가 뒤쪽 입천장을 탁 막는 느낌이 나지요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‘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가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’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는 여기서 발음이 됩니다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. 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544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선생님이 휴지를 대고 발음해보겠습니다</a:t>
            </a:r>
            <a:r>
              <a:rPr lang="en-US" altLang="ko-KR" dirty="0"/>
              <a:t>. </a:t>
            </a:r>
            <a:r>
              <a:rPr lang="ko-KR" altLang="en-US" dirty="0"/>
              <a:t>무엇이 </a:t>
            </a:r>
            <a:r>
              <a:rPr lang="ko-KR" altLang="en-US" dirty="0" err="1"/>
              <a:t>다른지</a:t>
            </a:r>
            <a:r>
              <a:rPr lang="ko-KR" altLang="en-US" dirty="0"/>
              <a:t> 확인해보세요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29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＇다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’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를 발음하면 혀 앞쪽이 앞니의 뒤쪽을 치는 느낌이 들지요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? 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‘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다＇는 여기서 발음됩니다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. 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776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선생님이 휴지를 대고 발음해보겠습니다</a:t>
            </a:r>
            <a:r>
              <a:rPr lang="en-US" altLang="ko-KR" dirty="0"/>
              <a:t>. </a:t>
            </a:r>
            <a:r>
              <a:rPr lang="ko-KR" altLang="en-US" dirty="0"/>
              <a:t>무엇이 </a:t>
            </a:r>
            <a:r>
              <a:rPr lang="ko-KR" altLang="en-US" dirty="0" err="1"/>
              <a:t>다른지</a:t>
            </a:r>
            <a:r>
              <a:rPr lang="ko-KR" altLang="en-US" dirty="0"/>
              <a:t> 확인해보세요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94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‘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바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’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를 발음하면 입술이 오므라들었다가 펴지며 소리가 나지요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? ‘</a:t>
            </a:r>
            <a:r>
              <a:rPr lang="ko-KR" altLang="en-US" b="0" i="0" u="none" strike="noStrike" baseline="0" dirty="0" err="1">
                <a:solidFill>
                  <a:srgbClr val="000000"/>
                </a:solidFill>
                <a:latin typeface="나눔고딕"/>
              </a:rPr>
              <a:t>바＇는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고딕"/>
              </a:rPr>
              <a:t> 이렇게 입술에서 소리가 납니다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나눔고딕"/>
              </a:rPr>
              <a:t>. 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991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선생님이 휴지를 대고 발음해보겠습니다</a:t>
            </a:r>
            <a:r>
              <a:rPr lang="en-US" altLang="ko-KR" dirty="0"/>
              <a:t>. </a:t>
            </a:r>
            <a:r>
              <a:rPr lang="ko-KR" altLang="en-US" dirty="0"/>
              <a:t>무엇이 </a:t>
            </a:r>
            <a:r>
              <a:rPr lang="ko-KR" altLang="en-US" dirty="0" err="1"/>
              <a:t>다른지</a:t>
            </a:r>
            <a:r>
              <a:rPr lang="ko-KR" altLang="en-US" dirty="0"/>
              <a:t> 확인해보세요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680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57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367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455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개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76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621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타요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789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2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팥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940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6538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851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641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354632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발음 수업 용 패들렛을 만들어 학생들이 녹음한 것을 업로드할 수 있도록 안내한다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54278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hyperlink" Target="https://sophia-greennaraemaker.github.io/kishcm-pronunciation/" TargetMode="External" /><Relationship Id="rId5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7.png"  /><Relationship Id="rId4" Type="http://schemas.microsoft.com/office/2007/relationships/hdphoto" Target="../embeddings/oleObject1.wdp"  /><Relationship Id="rId5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7.png"  /><Relationship Id="rId4" Type="http://schemas.microsoft.com/office/2007/relationships/hdphoto" Target="../embeddings/oleObject1.wdp"  /><Relationship Id="rId5" Type="http://schemas.openxmlformats.org/officeDocument/2006/relationships/image" Target="../media/image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Relationship Id="rId4" Type="http://schemas.openxmlformats.org/officeDocument/2006/relationships/image" Target="../media/image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Relationship Id="rId4" Type="http://schemas.openxmlformats.org/officeDocument/2006/relationships/image" Target="../media/image1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Relationship Id="rId4" Type="http://schemas.openxmlformats.org/officeDocument/2006/relationships/image" Target="../media/image1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가로 글상자 17"/>
          <p:cNvSpPr txBox="1"/>
          <p:nvPr/>
        </p:nvSpPr>
        <p:spPr>
          <a:xfrm>
            <a:off x="240521" y="4701557"/>
            <a:ext cx="9840181" cy="164018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2500" b="1">
                <a:solidFill>
                  <a:schemeClr val="tx1"/>
                </a:solidFill>
                <a:latin typeface="나눔고딕"/>
                <a:ea typeface="나눔고딕"/>
              </a:rPr>
              <a:t>*</a:t>
            </a:r>
            <a:r>
              <a:rPr lang="ko-KR" altLang="en-US" sz="2500" b="1">
                <a:solidFill>
                  <a:schemeClr val="tx1"/>
                </a:solidFill>
                <a:latin typeface="나눔고딕"/>
                <a:ea typeface="나눔고딕"/>
              </a:rPr>
              <a:t>본차시 수업 낱말 표준 발음</a:t>
            </a:r>
            <a:endParaRPr lang="ko-KR" altLang="en-US" sz="2500" b="1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 기식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바람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의 세기는 ㅍ에서 가장 강하고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ㅂ은 보통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ㅃ에서 가장 약하다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endParaRPr lang="ko-KR" altLang="en-US" sz="1500" b="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 기식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바람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의 세기는 ㅋ에서 가장 강하고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ㄱ은 보통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ㄲ에서 가장 약하다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endParaRPr lang="ko-KR" altLang="en-US" sz="1500" b="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 기식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바람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의 세기는 ㅌ에서 가장 강하고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ㄷ은 보통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ㄸ에서 가장 약하다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endParaRPr lang="en-US" altLang="ko-KR" sz="1500" b="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 이를 학생들이 손바닥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휴지 등을 사용하여 감각을 통해 느끼고 발음할 수 있도록 수업을 설계한다</a:t>
            </a:r>
            <a:r>
              <a:rPr lang="en-US" altLang="ko-KR" sz="1500" b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1500" b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ko-KR" altLang="en-US" sz="1500" b="0">
                <a:latin typeface="나눔고딕"/>
                <a:ea typeface="나눔고딕"/>
              </a:rPr>
              <a:t> </a:t>
            </a:r>
            <a:endParaRPr lang="ko-KR" altLang="en-US" sz="1500" b="0">
              <a:latin typeface="나눔고딕"/>
              <a:ea typeface="나눔고딕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8512" y="2678167"/>
            <a:ext cx="10130852" cy="1724257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240521" y="208974"/>
            <a:ext cx="11820262" cy="237039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2500" b="1">
                <a:solidFill>
                  <a:schemeClr val="tx1"/>
                </a:solidFill>
                <a:latin typeface="나눔고딕"/>
                <a:ea typeface="나눔고딕"/>
              </a:rPr>
              <a:t>*</a:t>
            </a:r>
            <a:r>
              <a:rPr lang="ko-KR" altLang="en-US" sz="2500" b="1">
                <a:solidFill>
                  <a:schemeClr val="tx1"/>
                </a:solidFill>
                <a:latin typeface="나눔고딕"/>
                <a:ea typeface="나눔고딕"/>
              </a:rPr>
              <a:t>자료 소개</a:t>
            </a:r>
            <a:endParaRPr lang="ko-KR" altLang="en-US" sz="2500" b="1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 본 자료는 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‘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베트남어 간섭을 극복하는 다감각·디지털 기반 맞춤형 발음 교육 자료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’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endParaRPr lang="ko-KR" altLang="en-US" sz="25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  입니다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 학교 상황에 따라 수정하여 사용하실 수 있습니다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endParaRPr lang="en-US" altLang="ko-KR" sz="25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호치민시한국국제학교 교사 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6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명이 개발한 자료입니다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600">
                <a:solidFill>
                  <a:schemeClr val="tx1"/>
                </a:solidFill>
                <a:latin typeface="나눔고딕"/>
                <a:ea typeface="나눔고딕"/>
              </a:rPr>
              <a:t>오혜령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나눔고딕"/>
                <a:ea typeface="나눔고딕"/>
              </a:rPr>
              <a:t> 강아라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나눔고딕"/>
                <a:ea typeface="나눔고딕"/>
              </a:rPr>
              <a:t> 권예림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나눔고딕"/>
                <a:ea typeface="나눔고딕"/>
              </a:rPr>
              <a:t> 박은솔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나눔고딕"/>
                <a:ea typeface="나눔고딕"/>
              </a:rPr>
              <a:t> 양유정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나눔고딕"/>
                <a:ea typeface="나눔고딕"/>
              </a:rPr>
              <a:t> 이서정</a:t>
            </a:r>
            <a:r>
              <a:rPr lang="en-US" altLang="ko-KR" sz="160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16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전체 자료를 확인할 수 있는 사이트입니다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2500">
                <a:solidFill>
                  <a:schemeClr val="tx1"/>
                </a:solidFill>
                <a:latin typeface="나눔고딕"/>
                <a:ea typeface="나눔고딕"/>
                <a:hlinkClick r:id="rId4"/>
              </a:rPr>
              <a:t>링크</a:t>
            </a:r>
            <a:r>
              <a:rPr lang="en-US" altLang="ko-KR" sz="250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2500">
              <a:solidFill>
                <a:schemeClr val="tx1"/>
              </a:solidFill>
              <a:latin typeface="나눔고딕"/>
              <a:ea typeface="나눔고딕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5"/>
          <a:srcRect b="50000"/>
          <a:stretch>
            <a:fillRect/>
          </a:stretch>
        </p:blipFill>
        <p:spPr>
          <a:xfrm>
            <a:off x="8749494" y="1989515"/>
            <a:ext cx="3171825" cy="8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5079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가로 글상자 11"/>
          <p:cNvSpPr txBox="1"/>
          <p:nvPr/>
        </p:nvSpPr>
        <p:spPr>
          <a:xfrm>
            <a:off x="273845" y="410526"/>
            <a:ext cx="1164431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500" b="1" dirty="0">
                <a:latin typeface="강원교육튼튼"/>
                <a:ea typeface="강원교육튼튼"/>
              </a:rPr>
              <a:t>바람이 훅</a:t>
            </a:r>
            <a:r>
              <a:rPr lang="en-US" altLang="ko-KR" sz="7500" b="1" dirty="0">
                <a:latin typeface="강원교육튼튼"/>
                <a:ea typeface="강원교육튼튼"/>
              </a:rPr>
              <a:t>! </a:t>
            </a:r>
            <a:r>
              <a:rPr lang="ko-KR" altLang="en-US" sz="7500" b="1" dirty="0">
                <a:latin typeface="강원교육튼튼"/>
                <a:ea typeface="강원교육튼튼"/>
              </a:rPr>
              <a:t>손바닥 놀이</a:t>
            </a:r>
            <a:endParaRPr lang="en-US" altLang="ko-KR" sz="7500" b="1" dirty="0">
              <a:latin typeface="강원교육튼튼"/>
              <a:ea typeface="강원교육튼튼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b="50000"/>
          <a:stretch>
            <a:fillRect/>
          </a:stretch>
        </p:blipFill>
        <p:spPr>
          <a:xfrm>
            <a:off x="8804145" y="5908818"/>
            <a:ext cx="3171825" cy="8929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93FD2E1-7E77-42A0-A96D-AE81EFE1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752" y="1902146"/>
            <a:ext cx="7523092" cy="3761546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9162218" y="5702211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fef99"/>
                </a:solidFill>
              </a:rPr>
              <a:t>AI</a:t>
            </a:r>
            <a:r>
              <a:rPr lang="ko-KR" altLang="en-US" sz="900">
                <a:solidFill>
                  <a:srgbClr val="ffef99"/>
                </a:solidFill>
              </a:rPr>
              <a:t> 활용 이미지</a:t>
            </a:r>
            <a:endParaRPr lang="ko-KR" altLang="en-US" sz="900">
              <a:solidFill>
                <a:srgbClr val="ffe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28801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수업의 학습 목표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6" name="가로 글상자 15"/>
          <p:cNvSpPr txBox="1"/>
          <p:nvPr/>
        </p:nvSpPr>
        <p:spPr>
          <a:xfrm>
            <a:off x="431885" y="1798811"/>
            <a:ext cx="11432610" cy="370473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ko-KR" altLang="en-US" sz="6600" b="1">
                <a:solidFill>
                  <a:schemeClr val="tx1"/>
                </a:solidFill>
              </a:rPr>
              <a:t>ㄱ</a:t>
            </a:r>
            <a:r>
              <a:rPr lang="en-US" altLang="ko-KR" sz="6600" b="1">
                <a:solidFill>
                  <a:schemeClr val="tx1"/>
                </a:solidFill>
              </a:rPr>
              <a:t>-</a:t>
            </a:r>
            <a:r>
              <a:rPr lang="ko-KR" altLang="en-US" sz="6600" b="1">
                <a:solidFill>
                  <a:schemeClr val="tx1"/>
                </a:solidFill>
              </a:rPr>
              <a:t>ㄲ</a:t>
            </a:r>
            <a:r>
              <a:rPr lang="en-US" altLang="ko-KR" sz="6600" b="1">
                <a:solidFill>
                  <a:schemeClr val="tx1"/>
                </a:solidFill>
              </a:rPr>
              <a:t>-</a:t>
            </a:r>
            <a:r>
              <a:rPr lang="ko-KR" altLang="en-US" sz="6600" b="1">
                <a:solidFill>
                  <a:schemeClr val="tx1"/>
                </a:solidFill>
              </a:rPr>
              <a:t>ㅋ</a:t>
            </a:r>
            <a:r>
              <a:rPr lang="en-US" altLang="ko-KR" sz="6600" b="1">
                <a:solidFill>
                  <a:schemeClr val="tx1"/>
                </a:solidFill>
              </a:rPr>
              <a:t>, </a:t>
            </a:r>
            <a:r>
              <a:rPr lang="ko-KR" altLang="en-US" sz="6600" b="1">
                <a:solidFill>
                  <a:schemeClr val="tx1"/>
                </a:solidFill>
              </a:rPr>
              <a:t>ㄷ</a:t>
            </a:r>
            <a:r>
              <a:rPr lang="en-US" altLang="ko-KR" sz="6600" b="1">
                <a:solidFill>
                  <a:schemeClr val="tx1"/>
                </a:solidFill>
              </a:rPr>
              <a:t>-</a:t>
            </a:r>
            <a:r>
              <a:rPr lang="ko-KR" altLang="en-US" sz="6600" b="1">
                <a:solidFill>
                  <a:schemeClr val="tx1"/>
                </a:solidFill>
              </a:rPr>
              <a:t>ㄸ</a:t>
            </a:r>
            <a:r>
              <a:rPr lang="en-US" altLang="ko-KR" sz="6600" b="1">
                <a:solidFill>
                  <a:schemeClr val="tx1"/>
                </a:solidFill>
              </a:rPr>
              <a:t>-</a:t>
            </a:r>
            <a:r>
              <a:rPr lang="ko-KR" altLang="en-US" sz="6600" b="1">
                <a:solidFill>
                  <a:schemeClr val="tx1"/>
                </a:solidFill>
              </a:rPr>
              <a:t>ㅌ</a:t>
            </a:r>
            <a:r>
              <a:rPr lang="en-US" altLang="ko-KR" sz="6600" b="1">
                <a:solidFill>
                  <a:schemeClr val="tx1"/>
                </a:solidFill>
              </a:rPr>
              <a:t>, </a:t>
            </a:r>
            <a:r>
              <a:rPr lang="ko-KR" altLang="en-US" sz="6600" b="1">
                <a:solidFill>
                  <a:schemeClr val="tx1"/>
                </a:solidFill>
              </a:rPr>
              <a:t>ㅂ</a:t>
            </a:r>
            <a:r>
              <a:rPr lang="en-US" altLang="ko-KR" sz="6600" b="1">
                <a:solidFill>
                  <a:schemeClr val="tx1"/>
                </a:solidFill>
              </a:rPr>
              <a:t>-</a:t>
            </a:r>
            <a:r>
              <a:rPr lang="ko-KR" altLang="en-US" sz="6600" b="1">
                <a:solidFill>
                  <a:schemeClr val="tx1"/>
                </a:solidFill>
              </a:rPr>
              <a:t>ㅃ</a:t>
            </a:r>
            <a:r>
              <a:rPr lang="en-US" altLang="ko-KR" sz="6600" b="1">
                <a:solidFill>
                  <a:schemeClr val="tx1"/>
                </a:solidFill>
              </a:rPr>
              <a:t>-</a:t>
            </a:r>
            <a:r>
              <a:rPr lang="ko-KR" altLang="en-US" sz="6600" b="1">
                <a:solidFill>
                  <a:schemeClr val="tx1"/>
                </a:solidFill>
              </a:rPr>
              <a:t>ㅍ</a:t>
            </a:r>
            <a:endParaRPr lang="ko-KR" altLang="en-US" sz="6600" b="1">
              <a:solidFill>
                <a:schemeClr val="tx1"/>
              </a:solidFill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ko-KR" altLang="en-US" sz="6600" b="1">
                <a:solidFill>
                  <a:schemeClr val="tx1"/>
                </a:solidFill>
              </a:rPr>
              <a:t>를</a:t>
            </a:r>
            <a:r>
              <a:rPr lang="en-US" altLang="ko-KR" sz="6600" b="1">
                <a:solidFill>
                  <a:schemeClr val="tx1"/>
                </a:solidFill>
              </a:rPr>
              <a:t> </a:t>
            </a:r>
            <a:r>
              <a:rPr lang="ko-KR" altLang="en-US" sz="6600" b="1">
                <a:solidFill>
                  <a:schemeClr val="tx1"/>
                </a:solidFill>
              </a:rPr>
              <a:t>구분하고</a:t>
            </a:r>
            <a:br>
              <a:rPr lang="en-US" altLang="ko-KR" sz="6600" b="1">
                <a:solidFill>
                  <a:schemeClr val="tx1"/>
                </a:solidFill>
              </a:rPr>
            </a:br>
            <a:r>
              <a:rPr lang="ko-KR" altLang="en-US" sz="6600" b="1">
                <a:solidFill>
                  <a:schemeClr val="tx1"/>
                </a:solidFill>
              </a:rPr>
              <a:t>올바르게 발음할 수 있다</a:t>
            </a:r>
            <a:r>
              <a:rPr lang="en-US" altLang="ko-KR" sz="6600" b="1">
                <a:solidFill>
                  <a:schemeClr val="tx1"/>
                </a:solidFill>
              </a:rPr>
              <a:t>. </a:t>
            </a:r>
            <a:endParaRPr lang="ko-KR" altLang="en-US" sz="6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49053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어디서 소리가 날까요</a:t>
            </a:r>
            <a:r>
              <a:rPr lang="en-US" altLang="ko-KR" sz="4000" b="1" dirty="0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D9993D-336E-4C05-9E0A-E67B0ECB95E9}"/>
              </a:ext>
            </a:extLst>
          </p:cNvPr>
          <p:cNvSpPr/>
          <p:nvPr/>
        </p:nvSpPr>
        <p:spPr>
          <a:xfrm>
            <a:off x="7251780" y="1539108"/>
            <a:ext cx="2749472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0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</a:t>
            </a:r>
            <a:endParaRPr lang="en-US" altLang="ko-KR" sz="20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2108" y="1273848"/>
            <a:ext cx="4791743" cy="4829849"/>
          </a:xfrm>
          <a:prstGeom prst="rect">
            <a:avLst/>
          </a:prstGeom>
        </p:spPr>
      </p:pic>
      <p:sp>
        <p:nvSpPr>
          <p:cNvPr id="11" name="화살표: 오른쪽 10"/>
          <p:cNvSpPr/>
          <p:nvPr/>
        </p:nvSpPr>
        <p:spPr>
          <a:xfrm rot="18604016">
            <a:off x="2652312" y="3536845"/>
            <a:ext cx="1544299" cy="100041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16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어떻게 소리가 날까요</a:t>
            </a:r>
            <a:r>
              <a:rPr lang="en-US" altLang="ko-KR" sz="4000" b="1" dirty="0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067424" y="2187160"/>
            <a:ext cx="9965702" cy="31354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20000" b="1" cap="none" spc="0">
                <a:ln w="0"/>
                <a:solidFill>
                  <a:srgbClr val="EB58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</a:t>
            </a:r>
            <a:r>
              <a:rPr lang="ko-KR" altLang="en-US" sz="2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0" b="1" cap="none" spc="0">
                <a:ln w="0"/>
                <a:solidFill>
                  <a:srgbClr val="FFCEB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까</a:t>
            </a:r>
            <a:r>
              <a:rPr lang="ko-KR" altLang="en-US" sz="2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0" b="1" cap="none" spc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카</a:t>
            </a:r>
            <a:endParaRPr lang="en-US" altLang="ko-KR" sz="20000" b="1" cap="none" spc="0">
              <a:ln w="0"/>
              <a:solidFill>
                <a:schemeClr val="accent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75562291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2108" y="1273848"/>
            <a:ext cx="4791743" cy="482984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어디서 소리가 날까요</a:t>
            </a:r>
            <a:r>
              <a:rPr lang="en-US" altLang="ko-KR" sz="4000" b="1" dirty="0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D9993D-336E-4C05-9E0A-E67B0ECB95E9}"/>
              </a:ext>
            </a:extLst>
          </p:cNvPr>
          <p:cNvSpPr/>
          <p:nvPr/>
        </p:nvSpPr>
        <p:spPr>
          <a:xfrm>
            <a:off x="7251780" y="1539108"/>
            <a:ext cx="2749472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0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다</a:t>
            </a:r>
            <a:endParaRPr lang="en-US" altLang="ko-KR" sz="20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화살표: 오른쪽 9"/>
          <p:cNvSpPr/>
          <p:nvPr/>
        </p:nvSpPr>
        <p:spPr>
          <a:xfrm rot="12886794">
            <a:off x="2125463" y="3323367"/>
            <a:ext cx="1544299" cy="1000411"/>
          </a:xfrm>
          <a:prstGeom prst="rightArrow">
            <a:avLst>
              <a:gd name="adj1" fmla="val 50000"/>
              <a:gd name="adj2" fmla="val 476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24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어떻게 소리가 날까요</a:t>
            </a:r>
            <a:r>
              <a:rPr lang="en-US" altLang="ko-KR" sz="4000" b="1" dirty="0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067424" y="2187160"/>
            <a:ext cx="9965702" cy="31354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20000" b="1" cap="none" spc="0">
                <a:ln w="0"/>
                <a:solidFill>
                  <a:srgbClr val="C49DD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다</a:t>
            </a:r>
            <a:r>
              <a:rPr lang="ko-KR" altLang="en-US" sz="2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0" b="1" cap="none" spc="0">
                <a:ln w="0"/>
                <a:solidFill>
                  <a:srgbClr val="D8BEE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따</a:t>
            </a:r>
            <a:r>
              <a:rPr lang="ko-KR" altLang="en-US" sz="2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0" b="1" cap="none" spc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타</a:t>
            </a:r>
            <a:endParaRPr lang="en-US" altLang="ko-KR" sz="20000" b="1" cap="none" spc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166008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어디서 소리가 날까요</a:t>
            </a:r>
            <a:r>
              <a:rPr lang="en-US" altLang="ko-KR" sz="4000" b="1" dirty="0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D9993D-336E-4C05-9E0A-E67B0ECB95E9}"/>
              </a:ext>
            </a:extLst>
          </p:cNvPr>
          <p:cNvSpPr/>
          <p:nvPr/>
        </p:nvSpPr>
        <p:spPr>
          <a:xfrm>
            <a:off x="7251780" y="1539108"/>
            <a:ext cx="2749472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0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바</a:t>
            </a:r>
            <a:endParaRPr lang="en-US" altLang="ko-KR" sz="20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2108" y="1273848"/>
            <a:ext cx="4791743" cy="482984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629610">
            <a:off x="508166" y="2995220"/>
            <a:ext cx="1187405" cy="1387105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73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어떻게 소리가 날까요</a:t>
            </a:r>
            <a:r>
              <a:rPr lang="en-US" altLang="ko-KR" sz="4000" b="1" dirty="0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067424" y="2187160"/>
            <a:ext cx="9965702" cy="31354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20000" b="1" cap="none" spc="0">
                <a:ln w="0"/>
                <a:solidFill>
                  <a:srgbClr val="69D8A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바</a:t>
            </a:r>
            <a:r>
              <a:rPr lang="ko-KR" altLang="en-US" sz="2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0" b="1" cap="none" spc="0">
                <a:ln w="0"/>
                <a:solidFill>
                  <a:srgbClr val="CDF2E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빠</a:t>
            </a:r>
            <a:r>
              <a:rPr lang="ko-KR" altLang="en-US" sz="2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0" b="1" cap="none" spc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파</a:t>
            </a:r>
            <a:endParaRPr lang="en-US" altLang="ko-KR" sz="20000" b="1" cap="none" spc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171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9B2440-3F44-4FE9-908C-2A83F9538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25" b="89892" l="4070" r="93895">
                        <a14:foregroundMark x1="9884" y1="20217" x2="4070" y2="41155"/>
                        <a14:foregroundMark x1="4070" y1="41155" x2="7849" y2="50181"/>
                        <a14:foregroundMark x1="65407" y1="19134" x2="58430" y2="45487"/>
                        <a14:foregroundMark x1="58430" y1="45487" x2="44767" y2="47653"/>
                        <a14:foregroundMark x1="89535" y1="32491" x2="64244" y2="66426"/>
                        <a14:foregroundMark x1="64244" y1="66426" x2="46512" y2="71480"/>
                        <a14:foregroundMark x1="46512" y1="71480" x2="37500" y2="67148"/>
                        <a14:foregroundMark x1="72965" y1="35018" x2="30233" y2="57040"/>
                        <a14:foregroundMark x1="23256" y1="32491" x2="74419" y2="66787"/>
                        <a14:foregroundMark x1="92442" y1="26715" x2="86919" y2="56679"/>
                        <a14:foregroundMark x1="93895" y1="42599" x2="89826" y2="537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0257" y="2756237"/>
            <a:ext cx="2741990" cy="220794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&lt;활동1&gt;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손바닥을 대고 발음해 봅시다</a:t>
            </a:r>
            <a:r>
              <a:rPr lang="en-US" altLang="ko-KR" sz="4000" b="1" dirty="0">
                <a:latin typeface="나눔고딕"/>
                <a:ea typeface="나눔고딕"/>
              </a:rPr>
              <a:t>. </a:t>
            </a:r>
            <a:r>
              <a:rPr lang="ko-KR" altLang="en-US" sz="4000" b="1" dirty="0">
                <a:latin typeface="나눔고딕"/>
                <a:ea typeface="나눔고딕"/>
              </a:rPr>
              <a:t>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1067424" y="1328509"/>
            <a:ext cx="9965702" cy="46608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10000" b="1" cap="none" spc="0">
                <a:ln w="0"/>
                <a:solidFill>
                  <a:srgbClr val="EB58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rgbClr val="FFCEB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까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카</a:t>
            </a:r>
            <a:endParaRPr lang="ko-KR" altLang="en-US" sz="10000" b="1">
              <a:ln w="0"/>
              <a:solidFill>
                <a:schemeClr val="accent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 algn="ctr">
              <a:defRPr/>
            </a:pPr>
            <a:r>
              <a:rPr lang="ko-KR" altLang="en-US" sz="10000" b="1" cap="none" spc="0">
                <a:ln w="0"/>
                <a:solidFill>
                  <a:srgbClr val="C49DD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다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rgbClr val="D8BEE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따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타</a:t>
            </a:r>
            <a:endParaRPr lang="ko-KR" altLang="en-US" sz="10000" b="1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 algn="ctr">
              <a:defRPr/>
            </a:pPr>
            <a:r>
              <a:rPr lang="ko-KR" altLang="en-US" sz="10000" b="1" cap="none" spc="0">
                <a:ln w="0"/>
                <a:solidFill>
                  <a:srgbClr val="69D8A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바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rgbClr val="CDF2E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빠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파</a:t>
            </a:r>
            <a:endParaRPr lang="en-US" altLang="ko-KR" sz="10000" b="1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가로 글상자 5"/>
          <p:cNvSpPr txBox="1"/>
          <p:nvPr/>
        </p:nvSpPr>
        <p:spPr>
          <a:xfrm>
            <a:off x="8983741" y="3157953"/>
            <a:ext cx="23885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latin typeface="나눔고딕"/>
                <a:ea typeface="나눔고딕"/>
              </a:rPr>
              <a:t>바람을 느껴봐</a:t>
            </a:r>
            <a:r>
              <a:rPr lang="en-US" altLang="ko-KR" sz="2000" b="1" dirty="0">
                <a:latin typeface="나눔고딕"/>
                <a:ea typeface="나눔고딕"/>
              </a:rPr>
              <a:t>!</a:t>
            </a:r>
          </a:p>
          <a:p>
            <a:pPr lvl="0">
              <a:defRPr/>
            </a:pPr>
            <a:r>
              <a:rPr lang="ko-KR" altLang="en-US" sz="2000" b="1" dirty="0">
                <a:latin typeface="나눔고딕"/>
                <a:ea typeface="나눔고딕"/>
              </a:rPr>
              <a:t>언제 가장 바람이</a:t>
            </a:r>
          </a:p>
          <a:p>
            <a:pPr lvl="0">
              <a:defRPr/>
            </a:pPr>
            <a:r>
              <a:rPr lang="ko-KR" altLang="en-US" sz="2000" b="1" dirty="0">
                <a:latin typeface="나눔고딕"/>
                <a:ea typeface="나눔고딕"/>
              </a:rPr>
              <a:t>많이 나와</a:t>
            </a:r>
            <a:r>
              <a:rPr lang="en-US" altLang="ko-KR" sz="2000" b="1" dirty="0">
                <a:latin typeface="나눔고딕"/>
                <a:ea typeface="나눔고딕"/>
              </a:rPr>
              <a:t>?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A136894-CB18-4B5E-8741-5CA805849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254" y="4604782"/>
            <a:ext cx="1688643" cy="17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7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&lt;활동1&gt;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휴지를 대고 발음해 봅시다</a:t>
            </a:r>
            <a:r>
              <a:rPr lang="en-US" altLang="ko-KR" sz="4000" b="1" dirty="0">
                <a:latin typeface="나눔고딕"/>
                <a:ea typeface="나눔고딕"/>
              </a:rPr>
              <a:t>. </a:t>
            </a:r>
            <a:r>
              <a:rPr lang="ko-KR" altLang="en-US" sz="4000" b="1" dirty="0">
                <a:latin typeface="나눔고딕"/>
                <a:ea typeface="나눔고딕"/>
              </a:rPr>
              <a:t>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1067424" y="1328509"/>
            <a:ext cx="9965702" cy="46608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10000" b="1" cap="none" spc="0">
                <a:ln w="0"/>
                <a:solidFill>
                  <a:srgbClr val="EB58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rgbClr val="FFCEB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까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카</a:t>
            </a:r>
          </a:p>
          <a:p>
            <a:pPr lvl="0" algn="ctr">
              <a:defRPr/>
            </a:pPr>
            <a:r>
              <a:rPr lang="ko-KR" altLang="en-US" sz="10000" b="1" cap="none" spc="0">
                <a:ln w="0"/>
                <a:solidFill>
                  <a:srgbClr val="C49DD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다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rgbClr val="D8BEE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따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타</a:t>
            </a:r>
          </a:p>
          <a:p>
            <a:pPr lvl="0" algn="ctr">
              <a:defRPr/>
            </a:pPr>
            <a:r>
              <a:rPr lang="ko-KR" altLang="en-US" sz="10000" b="1" cap="none" spc="0">
                <a:ln w="0"/>
                <a:solidFill>
                  <a:srgbClr val="69D8A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바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rgbClr val="CDF2E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빠</a:t>
            </a:r>
            <a:r>
              <a:rPr lang="ko-KR" altLang="en-US" sz="10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0" b="1" cap="none" spc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파</a:t>
            </a:r>
            <a:endParaRPr lang="en-US" altLang="ko-KR" sz="10000" b="1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D50F588-41F8-4CA6-8B51-56F86BFB7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25" b="89892" l="4070" r="93895">
                        <a14:foregroundMark x1="9884" y1="20217" x2="4070" y2="41155"/>
                        <a14:foregroundMark x1="4070" y1="41155" x2="7849" y2="50181"/>
                        <a14:foregroundMark x1="65407" y1="19134" x2="58430" y2="45487"/>
                        <a14:foregroundMark x1="58430" y1="45487" x2="44767" y2="47653"/>
                        <a14:foregroundMark x1="89535" y1="32491" x2="64244" y2="66426"/>
                        <a14:foregroundMark x1="64244" y1="66426" x2="46512" y2="71480"/>
                        <a14:foregroundMark x1="46512" y1="71480" x2="37500" y2="67148"/>
                        <a14:foregroundMark x1="72965" y1="35018" x2="30233" y2="57040"/>
                        <a14:foregroundMark x1="23256" y1="32491" x2="74419" y2="66787"/>
                        <a14:foregroundMark x1="92442" y1="26715" x2="86919" y2="56679"/>
                        <a14:foregroundMark x1="93895" y1="42599" x2="89826" y2="537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0257" y="2756237"/>
            <a:ext cx="2741990" cy="2207940"/>
          </a:xfrm>
          <a:prstGeom prst="rect">
            <a:avLst/>
          </a:prstGeom>
        </p:spPr>
      </p:pic>
      <p:sp>
        <p:nvSpPr>
          <p:cNvPr id="12" name="가로 글상자 5">
            <a:extLst>
              <a:ext uri="{FF2B5EF4-FFF2-40B4-BE49-F238E27FC236}">
                <a16:creationId xmlns:a16="http://schemas.microsoft.com/office/drawing/2014/main" id="{0977B873-CE4E-43AA-AE99-C3636D7D1EA2}"/>
              </a:ext>
            </a:extLst>
          </p:cNvPr>
          <p:cNvSpPr txBox="1"/>
          <p:nvPr/>
        </p:nvSpPr>
        <p:spPr>
          <a:xfrm>
            <a:off x="9110741" y="3215747"/>
            <a:ext cx="20350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latin typeface="나눔고딕"/>
                <a:ea typeface="나눔고딕"/>
              </a:rPr>
              <a:t>입에서 나오는</a:t>
            </a:r>
            <a:endParaRPr lang="en-US" altLang="ko-KR" sz="2000" b="1" dirty="0">
              <a:latin typeface="나눔고딕"/>
              <a:ea typeface="나눔고딕"/>
            </a:endParaRPr>
          </a:p>
          <a:p>
            <a:pPr lvl="0">
              <a:defRPr/>
            </a:pPr>
            <a:r>
              <a:rPr lang="ko-KR" altLang="en-US" sz="2000" b="1" dirty="0">
                <a:latin typeface="나눔고딕"/>
                <a:ea typeface="나눔고딕"/>
              </a:rPr>
              <a:t>바람 세기에</a:t>
            </a:r>
            <a:endParaRPr lang="en-US" altLang="ko-KR" sz="2000" b="1" dirty="0">
              <a:latin typeface="나눔고딕"/>
              <a:ea typeface="나눔고딕"/>
            </a:endParaRPr>
          </a:p>
          <a:p>
            <a:pPr lvl="0">
              <a:defRPr/>
            </a:pPr>
            <a:r>
              <a:rPr lang="ko-KR" altLang="en-US" sz="2000" b="1" dirty="0">
                <a:latin typeface="나눔고딕"/>
                <a:ea typeface="나눔고딕"/>
              </a:rPr>
              <a:t>주의해</a:t>
            </a:r>
            <a:r>
              <a:rPr lang="en-US" altLang="ko-KR" sz="2000" b="1" dirty="0">
                <a:latin typeface="나눔고딕"/>
                <a:ea typeface="나눔고딕"/>
              </a:rPr>
              <a:t>!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BA5CA12-0357-418E-9D00-A089A9860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254" y="4604782"/>
            <a:ext cx="1688643" cy="17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896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무슨 단어일까요</a:t>
            </a:r>
            <a:r>
              <a:rPr lang="en-US" altLang="ko-KR" sz="4000" b="1" dirty="0">
                <a:latin typeface="나눔고딕"/>
                <a:ea typeface="나눔고딕"/>
              </a:rPr>
              <a:t>?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80FFB05-2F8C-4B38-96BD-D5C598E4C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27" y="1239496"/>
            <a:ext cx="3715268" cy="4887007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4630059" y="1813015"/>
            <a:ext cx="4671472" cy="9092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>
                <a:ln w="0"/>
                <a:solidFill>
                  <a:srgbClr val="FFB68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개</a:t>
            </a:r>
            <a:r>
              <a:rPr lang="ko-KR" altLang="en-US" sz="54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귀여워요</a:t>
            </a:r>
            <a:r>
              <a:rPr lang="en-US" altLang="ko-KR" sz="54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5400" b="1" cap="none" spc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30059" y="4322189"/>
            <a:ext cx="4671472" cy="9051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 dirty="0">
                <a:ln w="0"/>
                <a:solidFill>
                  <a:srgbClr val="FFE7D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깨</a:t>
            </a:r>
            <a:r>
              <a:rPr lang="ko-KR" alt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고소해요</a:t>
            </a:r>
            <a:r>
              <a:rPr lang="en-US" altLang="ko-KR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5400" b="1" cap="none" spc="0" dirty="0">
              <a:solidFill>
                <a:schemeClr val="tx1"/>
              </a:solidFill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593569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무슨 단어일까요</a:t>
            </a:r>
            <a:r>
              <a:rPr lang="en-US" altLang="ko-KR" sz="4000" b="1" dirty="0">
                <a:latin typeface="나눔고딕"/>
                <a:ea typeface="나눔고딕"/>
              </a:rPr>
              <a:t>?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80FFB05-2F8C-4B38-96BD-D5C598E4C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152"/>
          <a:stretch/>
        </p:blipFill>
        <p:spPr>
          <a:xfrm>
            <a:off x="5990300" y="1637427"/>
            <a:ext cx="5364925" cy="35177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C99B66-C45B-4845-9A89-6B98EAE4C7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152"/>
          <a:stretch/>
        </p:blipFill>
        <p:spPr>
          <a:xfrm>
            <a:off x="625372" y="1667579"/>
            <a:ext cx="5364928" cy="3517738"/>
          </a:xfrm>
          <a:prstGeom prst="rect">
            <a:avLst/>
          </a:prstGeom>
        </p:spPr>
      </p:pic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DFF07FDC-B50B-4717-A9A1-2A339F987757}"/>
              </a:ext>
            </a:extLst>
          </p:cNvPr>
          <p:cNvSpPr/>
          <p:nvPr/>
        </p:nvSpPr>
        <p:spPr>
          <a:xfrm>
            <a:off x="947854" y="1351155"/>
            <a:ext cx="4772722" cy="4393581"/>
          </a:xfrm>
          <a:prstGeom prst="donut">
            <a:avLst>
              <a:gd name="adj" fmla="val 620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무슨 단어일까요</a:t>
            </a:r>
            <a:r>
              <a:rPr lang="en-US" altLang="ko-KR" sz="4000" b="1" dirty="0">
                <a:latin typeface="나눔고딕"/>
                <a:ea typeface="나눔고딕"/>
              </a:rPr>
              <a:t>?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D19155-9596-47C7-BF8C-213388064DBE}"/>
              </a:ext>
            </a:extLst>
          </p:cNvPr>
          <p:cNvSpPr/>
          <p:nvPr/>
        </p:nvSpPr>
        <p:spPr>
          <a:xfrm>
            <a:off x="5454555" y="4292078"/>
            <a:ext cx="39789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버스에 </a:t>
            </a:r>
            <a:r>
              <a:rPr lang="ko-KR" altLang="en-US" sz="5400" b="1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타</a:t>
            </a:r>
            <a:r>
              <a:rPr lang="ko-KR" alt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</a:t>
            </a:r>
            <a:r>
              <a:rPr lang="en-US" altLang="ko-KR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478466" y="1984119"/>
            <a:ext cx="3978974" cy="9095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사과를</a:t>
            </a:r>
            <a:r>
              <a:rPr lang="ko-KR" altLang="en-US" sz="5400" b="1" cap="none" spc="0">
                <a:ln w="0"/>
                <a:solidFill>
                  <a:srgbClr val="EBDEF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따</a:t>
            </a:r>
            <a:r>
              <a:rPr lang="ko-KR" altLang="en-US" sz="54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</a:t>
            </a:r>
            <a:r>
              <a:rPr lang="en-US" altLang="ko-KR" sz="54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5400" b="1" cap="none" spc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D730224-D097-4942-9B84-968DA91EE3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449"/>
          <a:stretch/>
        </p:blipFill>
        <p:spPr>
          <a:xfrm>
            <a:off x="1366279" y="1278443"/>
            <a:ext cx="3610479" cy="25018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3EFFE6-3830-4D39-AEB3-CA8B1B982F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359"/>
          <a:stretch/>
        </p:blipFill>
        <p:spPr>
          <a:xfrm>
            <a:off x="1388179" y="3764859"/>
            <a:ext cx="3610479" cy="2506366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71729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무슨 단어일까요</a:t>
            </a:r>
            <a:r>
              <a:rPr lang="en-US" altLang="ko-KR" sz="4000" b="1" dirty="0">
                <a:latin typeface="나눔고딕"/>
                <a:ea typeface="나눔고딕"/>
              </a:rPr>
              <a:t>?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5AA2676D-60EC-4A48-B4E2-23066DB9A1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449"/>
          <a:stretch/>
        </p:blipFill>
        <p:spPr>
          <a:xfrm>
            <a:off x="1820881" y="2180363"/>
            <a:ext cx="3610479" cy="25018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791596B-63D7-4891-964B-19356E7C86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359"/>
          <a:stretch/>
        </p:blipFill>
        <p:spPr>
          <a:xfrm>
            <a:off x="6760640" y="2175817"/>
            <a:ext cx="3610479" cy="2506366"/>
          </a:xfrm>
          <a:prstGeom prst="rect">
            <a:avLst/>
          </a:prstGeom>
        </p:spPr>
      </p:pic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DFF07FDC-B50B-4717-A9A1-2A339F987757}"/>
              </a:ext>
            </a:extLst>
          </p:cNvPr>
          <p:cNvSpPr/>
          <p:nvPr/>
        </p:nvSpPr>
        <p:spPr>
          <a:xfrm>
            <a:off x="6194472" y="1341373"/>
            <a:ext cx="4772722" cy="4393581"/>
          </a:xfrm>
          <a:prstGeom prst="donut">
            <a:avLst>
              <a:gd name="adj" fmla="val 620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6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무슨 단어일까요</a:t>
            </a:r>
            <a:r>
              <a:rPr lang="en-US" altLang="ko-KR" sz="4000" b="1" dirty="0">
                <a:latin typeface="나눔고딕"/>
                <a:ea typeface="나눔고딕"/>
              </a:rPr>
              <a:t>?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D19155-9596-47C7-BF8C-213388064DBE}"/>
              </a:ext>
            </a:extLst>
          </p:cNvPr>
          <p:cNvSpPr/>
          <p:nvPr/>
        </p:nvSpPr>
        <p:spPr>
          <a:xfrm>
            <a:off x="5399681" y="4113536"/>
            <a:ext cx="60660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팥</a:t>
            </a:r>
            <a:r>
              <a:rPr lang="ko-KR" alt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빙수는 맛있어요</a:t>
            </a:r>
            <a:r>
              <a:rPr lang="en-US" altLang="ko-KR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399681" y="1883758"/>
            <a:ext cx="5933675" cy="9051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>
                <a:ln w="0"/>
                <a:solidFill>
                  <a:srgbClr val="69D8A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밭</a:t>
            </a:r>
            <a:r>
              <a:rPr lang="ko-KR" altLang="en-US" sz="5400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에 당근이 있다</a:t>
            </a:r>
            <a:r>
              <a:rPr lang="en-US" altLang="ko-KR" sz="5400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5400" b="1" cap="none" spc="0">
              <a:ln w="0"/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A5721A-2878-4E3D-8A09-29FF38D33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797" y="1123072"/>
            <a:ext cx="3620005" cy="5077534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60316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무슨 단어일까요</a:t>
            </a:r>
            <a:r>
              <a:rPr lang="en-US" altLang="ko-KR" sz="4000" b="1" dirty="0">
                <a:latin typeface="나눔고딕"/>
                <a:ea typeface="나눔고딕"/>
              </a:rPr>
              <a:t>? 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4D0BFA0-221F-4F17-A9EB-76F6185660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488"/>
          <a:stretch/>
        </p:blipFill>
        <p:spPr>
          <a:xfrm>
            <a:off x="1444121" y="2610618"/>
            <a:ext cx="3620005" cy="246318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2BA5763-5707-4D5B-9E23-C7BD8C6E44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433"/>
          <a:stretch/>
        </p:blipFill>
        <p:spPr>
          <a:xfrm>
            <a:off x="6770830" y="2610618"/>
            <a:ext cx="3620005" cy="2516807"/>
          </a:xfrm>
          <a:prstGeom prst="rect">
            <a:avLst/>
          </a:prstGeom>
        </p:spPr>
      </p:pic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DFF07FDC-B50B-4717-A9A1-2A339F987757}"/>
              </a:ext>
            </a:extLst>
          </p:cNvPr>
          <p:cNvSpPr/>
          <p:nvPr/>
        </p:nvSpPr>
        <p:spPr>
          <a:xfrm>
            <a:off x="6288185" y="1529808"/>
            <a:ext cx="4772722" cy="4393581"/>
          </a:xfrm>
          <a:prstGeom prst="donut">
            <a:avLst>
              <a:gd name="adj" fmla="val 620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가로 글상자 14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84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ko-KR" sz="4000" b="1" dirty="0">
                <a:latin typeface="나눔고딕"/>
                <a:ea typeface="나눔고딕"/>
              </a:rPr>
              <a:t>3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en-US" altLang="en-US" sz="4000" b="1" dirty="0">
                <a:latin typeface="나눔고딕"/>
                <a:ea typeface="나눔고딕"/>
              </a:rPr>
              <a:t> </a:t>
            </a:r>
            <a:r>
              <a:rPr lang="ko-KR" altLang="en-US" sz="4000" b="1" dirty="0">
                <a:latin typeface="나눔고딕"/>
                <a:ea typeface="나눔고딕"/>
              </a:rPr>
              <a:t>마법사 삐삐 역할놀이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F637B53-0DD0-421C-9259-12B493C1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822" y="1276813"/>
            <a:ext cx="5080348" cy="508034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74616" y="1352259"/>
            <a:ext cx="2705477" cy="2076739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436957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3600" b="1" dirty="0">
                <a:latin typeface="나눔고딕"/>
                <a:ea typeface="나눔고딕"/>
              </a:rPr>
              <a:t>&lt;</a:t>
            </a:r>
            <a:r>
              <a:rPr lang="ko-KR" altLang="en-US" sz="3600" b="1" dirty="0">
                <a:latin typeface="나눔고딕"/>
                <a:ea typeface="나눔고딕"/>
              </a:rPr>
              <a:t>정리</a:t>
            </a:r>
            <a:r>
              <a:rPr lang="en-US" altLang="ko-KR" sz="3600" b="1" dirty="0">
                <a:latin typeface="나눔고딕"/>
                <a:ea typeface="나눔고딕"/>
              </a:rPr>
              <a:t>&gt; </a:t>
            </a:r>
            <a:r>
              <a:rPr lang="ko-KR" altLang="en-US" sz="3600" b="1" dirty="0">
                <a:latin typeface="나눔고딕"/>
                <a:ea typeface="나눔고딕"/>
              </a:rPr>
              <a:t>빨간 글씨에 주의하며 읽어보세요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CBC838-4886-4E51-BE93-CF2D2FB41B47}"/>
              </a:ext>
            </a:extLst>
          </p:cNvPr>
          <p:cNvSpPr/>
          <p:nvPr/>
        </p:nvSpPr>
        <p:spPr>
          <a:xfrm>
            <a:off x="6661438" y="3319290"/>
            <a:ext cx="2262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도토</a:t>
            </a:r>
            <a:r>
              <a:rPr lang="ko-KR" altLang="en-US" sz="5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리</a:t>
            </a:r>
            <a:endParaRPr lang="en-US" altLang="ko-KR" sz="5400" b="1" cap="none" spc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63AF68-1D98-4E2A-8CB1-10DE057AE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43" y="1808746"/>
            <a:ext cx="3499928" cy="3863921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473412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3600" b="1" dirty="0">
                <a:latin typeface="나눔고딕"/>
                <a:ea typeface="나눔고딕"/>
              </a:rPr>
              <a:t>&lt;</a:t>
            </a:r>
            <a:r>
              <a:rPr lang="ko-KR" altLang="en-US" sz="3600" b="1" dirty="0">
                <a:latin typeface="나눔고딕"/>
                <a:ea typeface="나눔고딕"/>
              </a:rPr>
              <a:t>정리</a:t>
            </a:r>
            <a:r>
              <a:rPr lang="en-US" altLang="ko-KR" sz="3600" b="1" dirty="0">
                <a:latin typeface="나눔고딕"/>
                <a:ea typeface="나눔고딕"/>
              </a:rPr>
              <a:t>&gt; </a:t>
            </a:r>
            <a:r>
              <a:rPr lang="ko-KR" altLang="en-US" sz="3600" b="1" dirty="0">
                <a:latin typeface="나눔고딕"/>
                <a:ea typeface="나눔고딕"/>
              </a:rPr>
              <a:t>빨간 글씨에 주의하며 읽어보세요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61FECFF6-6524-4939-9C76-E75AF31C8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46" y="1368101"/>
            <a:ext cx="4520712" cy="473505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CBC838-4886-4E51-BE93-CF2D2FB41B47}"/>
              </a:ext>
            </a:extLst>
          </p:cNvPr>
          <p:cNvSpPr/>
          <p:nvPr/>
        </p:nvSpPr>
        <p:spPr>
          <a:xfrm>
            <a:off x="5119350" y="3319290"/>
            <a:ext cx="53463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너와 나는 </a:t>
            </a:r>
            <a:r>
              <a:rPr lang="ko-KR" altLang="en-US" sz="5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가까</a:t>
            </a:r>
            <a:r>
              <a:rPr lang="ko-KR" altLang="en-US" sz="5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워</a:t>
            </a:r>
            <a:endParaRPr lang="en-US" altLang="ko-KR" sz="5400" b="1" cap="none" spc="0" dirty="0"/>
          </a:p>
        </p:txBody>
      </p:sp>
      <p:sp>
        <p:nvSpPr>
          <p:cNvPr id="12" name="가로 글상자 11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804700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3600" b="1" dirty="0">
                <a:latin typeface="나눔고딕"/>
                <a:ea typeface="나눔고딕"/>
              </a:rPr>
              <a:t>&lt;</a:t>
            </a:r>
            <a:r>
              <a:rPr lang="ko-KR" altLang="en-US" sz="3600" b="1" dirty="0">
                <a:latin typeface="나눔고딕"/>
                <a:ea typeface="나눔고딕"/>
              </a:rPr>
              <a:t>정리</a:t>
            </a:r>
            <a:r>
              <a:rPr lang="en-US" altLang="ko-KR" sz="3600" b="1" dirty="0">
                <a:latin typeface="나눔고딕"/>
                <a:ea typeface="나눔고딕"/>
              </a:rPr>
              <a:t>&gt; </a:t>
            </a:r>
            <a:r>
              <a:rPr lang="ko-KR" altLang="en-US" sz="3600" b="1" dirty="0">
                <a:latin typeface="나눔고딕"/>
                <a:ea typeface="나눔고딕"/>
              </a:rPr>
              <a:t>빨간 글씨에 주의하며 읽어보세요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CBC838-4886-4E51-BE93-CF2D2FB41B47}"/>
              </a:ext>
            </a:extLst>
          </p:cNvPr>
          <p:cNvSpPr/>
          <p:nvPr/>
        </p:nvSpPr>
        <p:spPr>
          <a:xfrm>
            <a:off x="5197898" y="3319290"/>
            <a:ext cx="51892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>
              <a:defRPr/>
            </a:pPr>
            <a:r>
              <a:rPr lang="ko-KR" altLang="en-US" sz="5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선생님은 </a:t>
            </a:r>
            <a:r>
              <a:rPr lang="ko-KR" altLang="en-US" sz="5400" b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바빠</a:t>
            </a:r>
            <a:r>
              <a:rPr lang="ko-KR" altLang="en-US" sz="5400" b="1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</a:t>
            </a:r>
            <a:endParaRPr lang="en-US" altLang="ko-KR" sz="5400" b="1" cap="none" spc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C1ABB1-4A35-4589-9C38-678E6A570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1" y="1466056"/>
            <a:ext cx="4953116" cy="4121943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9162218" y="6168936"/>
            <a:ext cx="2902783" cy="220747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en-US" altLang="ko-KR" sz="900">
                <a:solidFill>
                  <a:srgbClr val="f2f2f2"/>
                </a:solidFill>
              </a:rPr>
              <a:t>*</a:t>
            </a:r>
            <a:r>
              <a:rPr lang="ko-KR" altLang="en-US" sz="900">
                <a:solidFill>
                  <a:srgbClr val="f2f2f2"/>
                </a:solidFill>
              </a:rPr>
              <a:t>이미지 출처</a:t>
            </a:r>
            <a:r>
              <a:rPr lang="en-US" altLang="ko-KR" sz="900">
                <a:solidFill>
                  <a:srgbClr val="f2f2f2"/>
                </a:solidFill>
              </a:rPr>
              <a:t>:</a:t>
            </a:r>
            <a:r>
              <a:rPr lang="ko-KR" altLang="en-US" sz="900">
                <a:solidFill>
                  <a:srgbClr val="f2f2f2"/>
                </a:solidFill>
              </a:rPr>
              <a:t> 미리캔버스</a:t>
            </a:r>
            <a:endParaRPr lang="ko-KR" altLang="en-US" sz="9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21932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7342187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숙제 안내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(2/6)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바람이 훅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!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손바닥 놀이 </a:t>
              </a:r>
              <a:endParaRPr lang="en-US" altLang="ko-KR" sz="230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0" name="가로 글상자 5"/>
          <p:cNvSpPr txBox="1"/>
          <p:nvPr/>
        </p:nvSpPr>
        <p:spPr>
          <a:xfrm>
            <a:off x="1299194" y="2205330"/>
            <a:ext cx="10041596" cy="16694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ko-KR" sz="4000" b="1">
                <a:solidFill>
                  <a:schemeClr val="tx1"/>
                </a:solidFill>
                <a:latin typeface="나눔고딕"/>
                <a:ea typeface="나눔고딕"/>
              </a:rPr>
              <a:t>‘</a:t>
            </a:r>
            <a:r>
              <a:rPr lang="ko-KR" altLang="en-US" sz="4000" b="1">
                <a:solidFill>
                  <a:schemeClr val="tx1"/>
                </a:solidFill>
                <a:latin typeface="나눔고딕"/>
                <a:ea typeface="나눔고딕"/>
              </a:rPr>
              <a:t>마법사 삐삐＇ 역할놀이 대본을</a:t>
            </a:r>
            <a:endParaRPr lang="ko-KR" altLang="en-US" sz="4000" b="1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 algn="ctr">
              <a:lnSpc>
                <a:spcPct val="130000"/>
              </a:lnSpc>
              <a:defRPr/>
            </a:pPr>
            <a:r>
              <a:rPr lang="ko-KR" altLang="en-US" sz="4000" b="1">
                <a:solidFill>
                  <a:schemeClr val="tx1"/>
                </a:solidFill>
                <a:latin typeface="나눔고딕"/>
                <a:ea typeface="나눔고딕"/>
              </a:rPr>
              <a:t>집에서 연습해서 녹음해 보세요</a:t>
            </a:r>
            <a:r>
              <a:rPr lang="en-US" altLang="ko-KR" sz="4000" b="1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en-US" altLang="ko-KR" sz="4000" b="1">
                <a:latin typeface="나눔고딕"/>
                <a:ea typeface="나눔고딕"/>
              </a:rPr>
              <a:t> </a:t>
            </a:r>
            <a:endParaRPr lang="ko-KR" altLang="en-US" sz="4000" b="1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0890450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405</ep:Words>
  <ep:PresentationFormat>와이드스크린</ep:PresentationFormat>
  <ep:Paragraphs>122</ep:Paragraphs>
  <ep:Slides>22</ep:Slides>
  <ep:Notes>22</ep:Notes>
  <ep:TotalTime>0</ep:TotalTime>
  <ep:HiddenSlides>1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ep:HeadingPairs>
  <ep:TitlesOfParts>
    <vt:vector size="23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2026-05-21T14:39:51.000</dcterms:created>
  <dc:creator>sophi</dc:creator>
  <cp:lastModifiedBy>sophi</cp:lastModifiedBy>
  <dcterms:modified xsi:type="dcterms:W3CDTF">2026-07-04T13:55:46.573</dcterms:modified>
  <cp:revision>62</cp:revision>
  <dc:title>PowerPoint 프레젠테이션</dc:title>
  <cp:version>13.0.0.3380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