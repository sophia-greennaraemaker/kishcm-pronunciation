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9" r:id="rId3"/>
    <p:sldId id="257" r:id="rId4"/>
    <p:sldId id="258" r:id="rId5"/>
    <p:sldId id="280" r:id="rId6"/>
    <p:sldId id="273" r:id="rId7"/>
    <p:sldId id="278" r:id="rId8"/>
    <p:sldId id="268" r:id="rId9"/>
    <p:sldId id="274" r:id="rId10"/>
    <p:sldId id="272" r:id="rId11"/>
    <p:sldId id="275" r:id="rId12"/>
    <p:sldId id="265" r:id="rId13"/>
    <p:sldId id="276" r:id="rId14"/>
    <p:sldId id="271" r:id="rId15"/>
    <p:sldId id="277" r:id="rId16"/>
    <p:sldId id="266" r:id="rId17"/>
    <p:sldId id="281" r:id="rId18"/>
    <p:sldId id="282" r:id="rId19"/>
    <p:sldId id="283" r:id="rId20"/>
    <p:sldId id="260" r:id="rId21"/>
    <p:sldId id="261" r:id="rId22"/>
    <p:sldId id="26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A12D1B81-FAC2-49A0-9AE4-3A3035D30CFA}" name="교사용 참고 자료">
          <p14:sldIdLst>
            <p14:sldId id="279"/>
          </p14:sldIdLst>
        </p14:section>
        <p14:section id="{6682FD54-BAD8-4B84-80FB-EE057C707963}" name="수업">
          <p14:sldIdLst>
            <p14:sldId id="257"/>
            <p14:sldId id="258"/>
            <p14:sldId id="280"/>
            <p14:sldId id="273"/>
            <p14:sldId id="278"/>
            <p14:sldId id="268"/>
            <p14:sldId id="274"/>
            <p14:sldId id="272"/>
            <p14:sldId id="275"/>
            <p14:sldId id="265"/>
            <p14:sldId id="276"/>
            <p14:sldId id="271"/>
            <p14:sldId id="277"/>
            <p14:sldId id="266"/>
            <p14:sldId id="281"/>
            <p14:sldId id="282"/>
            <p14:sldId id="283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76287"/>
  </p:normalViewPr>
  <p:slideViewPr>
    <p:cSldViewPr snapToGrid="0" snapToObjects="1">
      <p:cViewPr varScale="1">
        <p:scale>
          <a:sx n="100" d="100"/>
          <a:sy n="100" d="100"/>
        </p:scale>
        <p:origin x="1692" y="9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presProps" Target="presProps.xml"  /><Relationship Id="rId25" Type="http://schemas.openxmlformats.org/officeDocument/2006/relationships/viewProps" Target="viewProps.xml"  /><Relationship Id="rId26" Type="http://schemas.openxmlformats.org/officeDocument/2006/relationships/theme" Target="theme/theme1.xml"  /><Relationship Id="rId27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506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96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읽으신 낱말은 무엇일까요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/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/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의자에 앉아요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/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동생을 안아요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544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학생들이 짝꿍 낱말 카드를 읽는다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올바른 발음으로 짝꿍 낱말 카드를 읽는다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이렇게 자음이 두 개 있는 받침을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이라고 합니다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048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학습지 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en-US" altLang="ko-KR"/>
              <a:t>(</a:t>
            </a:r>
            <a:r>
              <a:rPr lang="ko-KR" altLang="en-US"/>
              <a:t>겹받침</a:t>
            </a:r>
            <a:r>
              <a:rPr lang="en-US" altLang="ko-KR"/>
              <a:t>)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85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겹받침은 두 자음 중 하나만 소리가 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베트남어는 새로운 소리가 나지만 한국어 겹받침은 다르다는 것 이해하기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335431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겹받침은 두 자음 중 하나만 소리가 납니다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앉다</a:t>
            </a:r>
            <a:endParaRPr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된소리되기 현상은 다루지 않는다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내 몸을 어디에 붙여서 앉아요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의자에 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랑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발음 같아요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57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앉아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얹어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그런데 남은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ㅈ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이사가요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[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안자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안자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178160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언따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된소리되기 현상은 다루지 않는다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어떤 물건을 올려요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빵에 잼을 얹다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빙수에 팥을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빵에 딸기를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장난치지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뛰지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646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얹어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그런데 남은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ㅈ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이사가요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언저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언저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ㅎ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은 안녕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~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하고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이사가지 않고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래서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 이사가요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아나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아나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654710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된소리되기 현상은 다루지 않는다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연필이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숙제가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랑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발음 같아요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874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없어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그런데 남은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ㅅ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이사가요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업써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업ㅆ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533759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만타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사람이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음식이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만다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말다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의 현재형임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793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ㅎ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은 안녕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~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하고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이사가지 않고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래서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 이사가요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마나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마나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82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발음하는 낱말 카드를 골라보세요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사람이 많다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만다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김밥을 만다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등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짝꿍이 소리내는 낱말 카드를 골라보세요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677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초록색을 먼저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선생님이 읽으신 문장과 내가 읽은 문장 발음을 비교해 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260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초록색을 먼저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선생님이 읽으신 문장과 내가 읽은 문장 발음을 비교해 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834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초록색을 먼저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선생님이 읽으신 문장과 내가 읽은 문장 발음을 비교해 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727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겹받침이 있는 낱말을 먼저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노란색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기사를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내가 읽을 부분을 고르세요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각자 읽을 부분을 정한 후 모둠이 하나의 뉴스를 완성한다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059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133576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발음 수업 용 패들렛을 만들어 학생들이 녹음한 것을 업로드할 수 있도록 안내한다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54278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20.png"  /><Relationship Id="rId4" Type="http://schemas.openxmlformats.org/officeDocument/2006/relationships/image" Target="../media/image14.png"  /><Relationship Id="rId5" Type="http://schemas.openxmlformats.org/officeDocument/2006/relationships/image" Target="../media/image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6.png"  /><Relationship Id="rId4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4.png"  /><Relationship Id="rId4" Type="http://schemas.openxmlformats.org/officeDocument/2006/relationships/image" Target="../media/image2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20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27.jpe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20.png"  /><Relationship Id="rId4" Type="http://schemas.openxmlformats.org/officeDocument/2006/relationships/image" Target="../media/image14.png"  /><Relationship Id="rId5" Type="http://schemas.openxmlformats.org/officeDocument/2006/relationships/image" Target="../media/image6.png"  /><Relationship Id="rId6" Type="http://schemas.openxmlformats.org/officeDocument/2006/relationships/image" Target="../media/image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240521" y="4701557"/>
            <a:ext cx="7494302" cy="468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500" b="1">
                <a:latin typeface="나눔고딕"/>
                <a:ea typeface="나눔고딕"/>
              </a:rPr>
              <a:t>*</a:t>
            </a:r>
            <a:r>
              <a:rPr lang="ko-KR" altLang="en-US" sz="2500" b="1">
                <a:latin typeface="나눔고딕"/>
                <a:ea typeface="나눔고딕"/>
              </a:rPr>
              <a:t>본차시 수업 낱말 표준 발음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40521" y="5268561"/>
          <a:ext cx="11554810" cy="108092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5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046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앉다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안따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얹다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언따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않다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안타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없다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업따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많다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만타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46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앉아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안자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얹어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언저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않아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아나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없어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업써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많아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마나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8512" y="2678167"/>
            <a:ext cx="10130852" cy="1724257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210712" y="245155"/>
            <a:ext cx="11915817" cy="228344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나눔고딕"/>
                <a:ea typeface="나눔고딕"/>
              </a:rPr>
              <a:t>*</a:t>
            </a:r>
            <a:r>
              <a:rPr lang="ko-KR" altLang="en-US" sz="2400" b="1" dirty="0">
                <a:solidFill>
                  <a:schemeClr val="tx1"/>
                </a:solidFill>
                <a:latin typeface="나눔고딕"/>
                <a:ea typeface="나눔고딕"/>
              </a:rPr>
              <a:t>자료 소개</a:t>
            </a:r>
            <a:endParaRPr lang="ko-KR" altLang="en-US" sz="2400" dirty="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본 자료는 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‘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베트남어 간섭을 극복하는 </a:t>
            </a:r>
            <a:r>
              <a:rPr lang="ko-KR" altLang="en-US" sz="2400" dirty="0" err="1">
                <a:solidFill>
                  <a:schemeClr val="tx1"/>
                </a:solidFill>
                <a:latin typeface="나눔고딕"/>
                <a:ea typeface="나눔고딕"/>
              </a:rPr>
              <a:t>다감각·디지털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기반 맞춤형 발음 교육 자료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’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</a:p>
          <a:p>
            <a:pPr lvl="0">
              <a:lnSpc>
                <a:spcPct val="120000"/>
              </a:lnSpc>
              <a:defRPr/>
            </a:pP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 입니다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학교 상황에 따라 수정하여 사용하실 수 있습니다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 dirty="0" err="1">
                <a:solidFill>
                  <a:schemeClr val="tx1"/>
                </a:solidFill>
                <a:latin typeface="나눔고딕"/>
                <a:ea typeface="나눔고딕"/>
              </a:rPr>
              <a:t>호치민시한국국제학교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교사 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6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명이 개발한 자료입니다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나눔고딕"/>
                <a:ea typeface="나눔고딕"/>
              </a:rPr>
              <a:t>오혜령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나눔고딕"/>
                <a:ea typeface="나눔고딕"/>
              </a:rPr>
              <a:t> 강아라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나눔고딕"/>
                <a:ea typeface="나눔고딕"/>
              </a:rPr>
              <a:t>권예림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나눔고딕"/>
                <a:ea typeface="나눔고딕"/>
              </a:rPr>
              <a:t>박은솔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나눔고딕"/>
                <a:ea typeface="나눔고딕"/>
              </a:rPr>
              <a:t>양유정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 dirty="0">
                <a:solidFill>
                  <a:schemeClr val="tx1"/>
                </a:solidFill>
                <a:latin typeface="나눔고딕"/>
                <a:ea typeface="나눔고딕"/>
              </a:rPr>
              <a:t> 이서정</a:t>
            </a:r>
            <a:r>
              <a:rPr lang="en-US" altLang="ko-KR" sz="1400" dirty="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2400" dirty="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전체 자료를 확인할 수 있는 사이트입니다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2400" dirty="0">
                <a:solidFill>
                  <a:schemeClr val="tx1"/>
                </a:solidFill>
                <a:latin typeface="나눔고딕"/>
                <a:ea typeface="나눔고딕"/>
              </a:rPr>
              <a:t>링크</a:t>
            </a:r>
            <a:r>
              <a:rPr lang="en-US" altLang="ko-KR" sz="2400" dirty="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8749494" y="1989515"/>
            <a:ext cx="3171825" cy="8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5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가로 글상자 11"/>
          <p:cNvSpPr txBox="1"/>
          <p:nvPr/>
        </p:nvSpPr>
        <p:spPr>
          <a:xfrm>
            <a:off x="273845" y="410526"/>
            <a:ext cx="11644310" cy="1233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500" b="1">
                <a:latin typeface="강원교육튼튼"/>
                <a:ea typeface="강원교육튼튼"/>
              </a:rPr>
              <a:t>겹받침</a:t>
            </a:r>
            <a:r>
              <a:rPr lang="en-US" altLang="ko-KR" sz="7500" b="1">
                <a:latin typeface="강원교육튼튼"/>
                <a:ea typeface="강원교육튼튼"/>
              </a:rPr>
              <a:t>,</a:t>
            </a:r>
            <a:r>
              <a:rPr lang="ko-KR" altLang="en-US" sz="7500" b="1">
                <a:latin typeface="강원교육튼튼"/>
                <a:ea typeface="강원교육튼튼"/>
              </a:rPr>
              <a:t> 누가 남을까</a:t>
            </a:r>
            <a:r>
              <a:rPr lang="en-US" altLang="ko-KR" sz="7500" b="1">
                <a:latin typeface="강원교육튼튼"/>
                <a:ea typeface="강원교육튼튼"/>
              </a:rPr>
              <a:t>?</a:t>
            </a:r>
            <a:endParaRPr lang="ko-KR" altLang="en-US" sz="7500" b="1">
              <a:latin typeface="강원교육튼튼"/>
              <a:ea typeface="강원교육튼튼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b="50000"/>
          <a:stretch>
            <a:fillRect/>
          </a:stretch>
        </p:blipFill>
        <p:spPr>
          <a:xfrm>
            <a:off x="8804145" y="5908818"/>
            <a:ext cx="3171825" cy="8929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F74F84D-DDA6-419F-AA7B-836DC8004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000" y="1395789"/>
            <a:ext cx="8736000" cy="476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88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선생님이 읽으신 낱말은 무엇일까요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3295" y="1907311"/>
            <a:ext cx="5158115" cy="344628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47908" y="1897786"/>
            <a:ext cx="5224160" cy="34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6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선생님이 읽으신 낱말은 무엇일까요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b="50975"/>
          <a:stretch>
            <a:fillRect/>
          </a:stretch>
        </p:blipFill>
        <p:spPr>
          <a:xfrm>
            <a:off x="356426" y="1727336"/>
            <a:ext cx="5677844" cy="38062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-76" t="51362" r="76" b="-387"/>
          <a:stretch>
            <a:fillRect/>
          </a:stretch>
        </p:blipFill>
        <p:spPr>
          <a:xfrm>
            <a:off x="6235828" y="1698760"/>
            <a:ext cx="5677844" cy="380623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1469" y="3852002"/>
            <a:ext cx="2344889" cy="234488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075451" y="4463638"/>
            <a:ext cx="2116549" cy="21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8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11164" y="2111157"/>
            <a:ext cx="2661780" cy="1317843"/>
          </a:xfrm>
          <a:prstGeom prst="ellipse">
            <a:avLst/>
          </a:prstGeom>
          <a:solidFill>
            <a:srgbClr val="FFEF9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수업의 학습 목표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5" name="가로 글상자 14"/>
          <p:cNvSpPr txBox="1"/>
          <p:nvPr/>
        </p:nvSpPr>
        <p:spPr>
          <a:xfrm>
            <a:off x="756129" y="3336255"/>
            <a:ext cx="3542517" cy="467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500" b="1">
                <a:solidFill>
                  <a:srgbClr val="806B00"/>
                </a:solidFill>
                <a:latin typeface="나눔고딕"/>
                <a:ea typeface="나눔고딕"/>
              </a:rPr>
              <a:t>자음이 두 개 있는 받침</a:t>
            </a:r>
          </a:p>
        </p:txBody>
      </p:sp>
      <p:sp>
        <p:nvSpPr>
          <p:cNvPr id="14" name="가로 글상자 11">
            <a:extLst>
              <a:ext uri="{FF2B5EF4-FFF2-40B4-BE49-F238E27FC236}">
                <a16:creationId xmlns:a16="http://schemas.microsoft.com/office/drawing/2014/main" id="{4A3368BD-F921-464B-9684-CE86118A64AA}"/>
              </a:ext>
            </a:extLst>
          </p:cNvPr>
          <p:cNvSpPr txBox="1"/>
          <p:nvPr/>
        </p:nvSpPr>
        <p:spPr>
          <a:xfrm>
            <a:off x="431885" y="1798811"/>
            <a:ext cx="11432610" cy="339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발음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원리를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이해하고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올바르게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발음할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수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있다</a:t>
            </a:r>
            <a:r>
              <a:rPr lang="EN-US"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ko-KR" altLang="en-US" sz="6800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8894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7342187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겹받침은 어떻게 발음하나요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sp>
        <p:nvSpPr>
          <p:cNvPr id="20" name="타원 19"/>
          <p:cNvSpPr/>
          <p:nvPr/>
        </p:nvSpPr>
        <p:spPr>
          <a:xfrm>
            <a:off x="8268493" y="2424906"/>
            <a:ext cx="1104026" cy="706437"/>
          </a:xfrm>
          <a:prstGeom prst="ellipse">
            <a:avLst/>
          </a:prstGeom>
          <a:solidFill>
            <a:srgbClr val="CDF2E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7888920" y="1563009"/>
            <a:ext cx="2967197" cy="16075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0" b="0" i="0" strike="noStrike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넓다</a:t>
            </a:r>
          </a:p>
        </p:txBody>
      </p:sp>
      <p:sp>
        <p:nvSpPr>
          <p:cNvPr id="19" name="타원 18"/>
          <p:cNvSpPr/>
          <p:nvPr/>
        </p:nvSpPr>
        <p:spPr>
          <a:xfrm>
            <a:off x="2750342" y="1849437"/>
            <a:ext cx="1682749" cy="1373187"/>
          </a:xfrm>
          <a:prstGeom prst="ellipse">
            <a:avLst/>
          </a:prstGeom>
          <a:solidFill>
            <a:srgbClr val="CDF2E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465894" y="1563010"/>
            <a:ext cx="2967197" cy="16075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0" b="0" i="0" strike="noStrike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r</a:t>
            </a:r>
            <a:r>
              <a:rPr lang="en-US" altLang="ko-KR" sz="10000" b="0" i="0" strike="noStrike">
                <a:solidFill>
                  <a:srgbClr val="000000">
                    <a:alpha val="100000"/>
                  </a:srgbClr>
                </a:solidFill>
                <a:ea typeface="나눔고딕"/>
              </a:rPr>
              <a:t>ộ</a:t>
            </a:r>
            <a:r>
              <a:rPr lang="en-US" altLang="ko-KR" sz="10000" b="0" i="0" strike="noStrike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ng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4754" y="3653512"/>
            <a:ext cx="2149478" cy="214947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48997" y="3429000"/>
            <a:ext cx="2647043" cy="264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b="50975"/>
          <a:stretch>
            <a:fillRect/>
          </a:stretch>
        </p:blipFill>
        <p:spPr>
          <a:xfrm>
            <a:off x="356426" y="1727336"/>
            <a:ext cx="5677844" cy="38062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-76" t="51362" r="76" b="-387"/>
          <a:stretch>
            <a:fillRect/>
          </a:stretch>
        </p:blipFill>
        <p:spPr>
          <a:xfrm>
            <a:off x="6235828" y="1698760"/>
            <a:ext cx="5677844" cy="380623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1469" y="3852002"/>
            <a:ext cx="2344889" cy="234488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075451" y="4463638"/>
            <a:ext cx="2116549" cy="21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7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b="50975"/>
          <a:stretch>
            <a:fillRect/>
          </a:stretch>
        </p:blipFill>
        <p:spPr>
          <a:xfrm>
            <a:off x="356426" y="1727336"/>
            <a:ext cx="5677844" cy="38062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-76" t="51362" r="76" b="-387"/>
          <a:stretch>
            <a:fillRect/>
          </a:stretch>
        </p:blipFill>
        <p:spPr>
          <a:xfrm>
            <a:off x="6235828" y="1698760"/>
            <a:ext cx="5677844" cy="380623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1469" y="3852002"/>
            <a:ext cx="2344889" cy="234488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075451" y="4463638"/>
            <a:ext cx="2116549" cy="2116549"/>
          </a:xfrm>
          <a:prstGeom prst="rect">
            <a:avLst/>
          </a:prstGeom>
        </p:spPr>
      </p:pic>
      <p:sp>
        <p:nvSpPr>
          <p:cNvPr id="19" name="가로 글상자 18"/>
          <p:cNvSpPr txBox="1"/>
          <p:nvPr/>
        </p:nvSpPr>
        <p:spPr>
          <a:xfrm>
            <a:off x="3084805" y="2340944"/>
            <a:ext cx="1950669" cy="2369468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아</a:t>
            </a:r>
          </a:p>
        </p:txBody>
      </p:sp>
      <p:sp>
        <p:nvSpPr>
          <p:cNvPr id="22" name="가로 글상자 21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239396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t="51045" b="-1045"/>
          <a:stretch>
            <a:fillRect/>
          </a:stretch>
        </p:blipFill>
        <p:spPr>
          <a:xfrm>
            <a:off x="154798" y="1708672"/>
            <a:ext cx="5731652" cy="388884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96599" y="4636328"/>
            <a:ext cx="1679444" cy="167944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rcRect b="50000"/>
          <a:stretch>
            <a:fillRect/>
          </a:stretch>
        </p:blipFill>
        <p:spPr>
          <a:xfrm>
            <a:off x="6123799" y="1756297"/>
            <a:ext cx="5731652" cy="388884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264836" y="4304185"/>
            <a:ext cx="1729613" cy="1729613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312754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t="51045" b="-1045"/>
          <a:stretch>
            <a:fillRect/>
          </a:stretch>
        </p:blipFill>
        <p:spPr>
          <a:xfrm>
            <a:off x="364348" y="1589353"/>
            <a:ext cx="5731652" cy="388884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96599" y="4517009"/>
            <a:ext cx="1679444" cy="1679444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3285652" y="2444440"/>
            <a:ext cx="1950669" cy="237202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어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rcRect b="50000"/>
          <a:stretch>
            <a:fillRect/>
          </a:stretch>
        </p:blipFill>
        <p:spPr>
          <a:xfrm>
            <a:off x="6261910" y="1652853"/>
            <a:ext cx="5731652" cy="3888843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402946" y="4200741"/>
            <a:ext cx="1729613" cy="1729613"/>
          </a:xfrm>
          <a:prstGeom prst="rect">
            <a:avLst/>
          </a:prstGeom>
        </p:spPr>
      </p:pic>
      <p:sp>
        <p:nvSpPr>
          <p:cNvPr id="26" name="가로 글상자 25"/>
          <p:cNvSpPr txBox="1"/>
          <p:nvPr/>
        </p:nvSpPr>
        <p:spPr>
          <a:xfrm>
            <a:off x="8941054" y="2244266"/>
            <a:ext cx="1950669" cy="2369468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아</a:t>
            </a:r>
          </a:p>
        </p:txBody>
      </p:sp>
      <p:sp>
        <p:nvSpPr>
          <p:cNvPr id="27" name="가로 글상자 26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225256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68502" y="1832346"/>
            <a:ext cx="5731228" cy="385717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t="51016" b="878"/>
          <a:stretch>
            <a:fillRect/>
          </a:stretch>
        </p:blipFill>
        <p:spPr>
          <a:xfrm>
            <a:off x="6148948" y="1832346"/>
            <a:ext cx="5731228" cy="385717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38523" y="4193127"/>
            <a:ext cx="2044769" cy="20447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24791" y="4738635"/>
            <a:ext cx="1524157" cy="1524157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181339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68502" y="1832346"/>
            <a:ext cx="5731228" cy="385717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24791" y="4738635"/>
            <a:ext cx="1524157" cy="152415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6207665" y="1832346"/>
            <a:ext cx="5731228" cy="3857175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8919444" y="2434915"/>
            <a:ext cx="1950669" cy="237202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어</a:t>
            </a:r>
          </a:p>
        </p:txBody>
      </p:sp>
      <p:sp>
        <p:nvSpPr>
          <p:cNvPr id="22" name="가로 글상자 21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19976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051"/>
          <a:stretch>
            <a:fillRect/>
          </a:stretch>
        </p:blipFill>
        <p:spPr>
          <a:xfrm>
            <a:off x="287247" y="1690516"/>
            <a:ext cx="5710893" cy="387987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l="125" t="51862" r="-125" b="-811"/>
          <a:stretch>
            <a:fillRect/>
          </a:stretch>
        </p:blipFill>
        <p:spPr>
          <a:xfrm>
            <a:off x="6172164" y="1743063"/>
            <a:ext cx="5710893" cy="387987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15338" y="4646465"/>
            <a:ext cx="1678225" cy="167822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547033" y="4357273"/>
            <a:ext cx="1548966" cy="1548966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105068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051"/>
          <a:stretch>
            <a:fillRect/>
          </a:stretch>
        </p:blipFill>
        <p:spPr>
          <a:xfrm>
            <a:off x="287247" y="1690516"/>
            <a:ext cx="5710893" cy="387987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47033" y="4357273"/>
            <a:ext cx="1548966" cy="154896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b="51051"/>
          <a:stretch>
            <a:fillRect/>
          </a:stretch>
        </p:blipFill>
        <p:spPr>
          <a:xfrm>
            <a:off x="6282670" y="1680992"/>
            <a:ext cx="5710893" cy="3879873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8968905" y="2255219"/>
            <a:ext cx="1950669" cy="2369468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아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21235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915908" y="3995400"/>
            <a:ext cx="3395645" cy="228530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t="51016" b="878"/>
          <a:stretch>
            <a:fillRect/>
          </a:stretch>
        </p:blipFill>
        <p:spPr>
          <a:xfrm>
            <a:off x="8291529" y="3995400"/>
            <a:ext cx="3395645" cy="228530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1681826" y="2466632"/>
            <a:ext cx="3733271" cy="253297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t="51045" b="-1045"/>
          <a:stretch>
            <a:fillRect/>
          </a:stretch>
        </p:blipFill>
        <p:spPr>
          <a:xfrm>
            <a:off x="6959197" y="2414085"/>
            <a:ext cx="3733271" cy="2532970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rcRect b="50975"/>
          <a:stretch>
            <a:fillRect/>
          </a:stretch>
        </p:blipFill>
        <p:spPr>
          <a:xfrm>
            <a:off x="216597" y="1097297"/>
            <a:ext cx="3520879" cy="236027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rcRect l="-76" t="51362" r="76" b="-387"/>
          <a:stretch>
            <a:fillRect/>
          </a:stretch>
        </p:blipFill>
        <p:spPr>
          <a:xfrm>
            <a:off x="5591175" y="1068721"/>
            <a:ext cx="3520879" cy="236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97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b="50980"/>
          <a:stretch>
            <a:fillRect/>
          </a:stretch>
        </p:blipFill>
        <p:spPr>
          <a:xfrm>
            <a:off x="216597" y="1097297"/>
            <a:ext cx="3520879" cy="2360278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3933741" y="1624153"/>
            <a:ext cx="7833690" cy="1307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의자에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앉다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내 옆자리에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앉아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3933741" y="4374280"/>
            <a:ext cx="78336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 dirty="0">
                <a:latin typeface="나눔고딕"/>
                <a:ea typeface="나눔고딕"/>
              </a:rPr>
              <a:t>▪</a:t>
            </a:r>
            <a:r>
              <a:rPr lang="ko-KR" altLang="en-US" sz="4000" b="1" dirty="0">
                <a:latin typeface="나눔고딕"/>
                <a:ea typeface="나눔고딕"/>
              </a:rPr>
              <a:t> 숙제를 하지 </a:t>
            </a:r>
            <a:r>
              <a:rPr lang="ko-KR" altLang="en-US" sz="4000" b="1" dirty="0">
                <a:solidFill>
                  <a:srgbClr val="289B6E"/>
                </a:solidFill>
                <a:latin typeface="나눔고딕"/>
                <a:ea typeface="나눔고딕"/>
              </a:rPr>
              <a:t>않다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 dirty="0">
                <a:latin typeface="나눔고딕"/>
                <a:ea typeface="나눔고딕"/>
              </a:rPr>
              <a:t>▪</a:t>
            </a:r>
            <a:r>
              <a:rPr lang="ko-KR" altLang="en-US" sz="4000" b="1" dirty="0">
                <a:latin typeface="나눔고딕"/>
                <a:ea typeface="나눔고딕"/>
              </a:rPr>
              <a:t> 숙제를 하지 </a:t>
            </a:r>
            <a:r>
              <a:rPr lang="ko-KR" altLang="en-US" sz="4000" b="1" dirty="0">
                <a:solidFill>
                  <a:srgbClr val="289B6E"/>
                </a:solidFill>
                <a:latin typeface="나눔고딕"/>
                <a:ea typeface="나눔고딕"/>
              </a:rPr>
              <a:t>않아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216597" y="3761616"/>
            <a:ext cx="3520879" cy="238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62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7" name="가로 글상자 16"/>
          <p:cNvSpPr txBox="1"/>
          <p:nvPr/>
        </p:nvSpPr>
        <p:spPr>
          <a:xfrm>
            <a:off x="3933741" y="1624153"/>
            <a:ext cx="7833690" cy="1307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빵 위에 잼을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얹다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빙수에 팥을 듬뿍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얹어요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3933741" y="4374280"/>
            <a:ext cx="7833690" cy="131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도서관에 책이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많다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교실에 학생이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많아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t="51050" b="-1040"/>
          <a:stretch>
            <a:fillRect/>
          </a:stretch>
        </p:blipFill>
        <p:spPr>
          <a:xfrm>
            <a:off x="195486" y="1069218"/>
            <a:ext cx="3563099" cy="241751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4"/>
          <a:srcRect b="51050"/>
          <a:stretch>
            <a:fillRect/>
          </a:stretch>
        </p:blipFill>
        <p:spPr>
          <a:xfrm>
            <a:off x="195486" y="3822747"/>
            <a:ext cx="3552210" cy="241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71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7" name="가로 글상자 16"/>
          <p:cNvSpPr txBox="1"/>
          <p:nvPr/>
        </p:nvSpPr>
        <p:spPr>
          <a:xfrm>
            <a:off x="3933741" y="1624153"/>
            <a:ext cx="7833690" cy="1307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필통에 지우개가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없다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가방이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없어요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rcRect b="51890"/>
          <a:stretch>
            <a:fillRect/>
          </a:stretch>
        </p:blipFill>
        <p:spPr>
          <a:xfrm>
            <a:off x="352052" y="1323451"/>
            <a:ext cx="3395645" cy="228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40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7342187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&lt;활동3&gt; 도전, 어린이 아나운서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2602" y="969715"/>
            <a:ext cx="9646795" cy="542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9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82127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짝꿍 낱말 카드를 다시 읽어보세요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915908" y="3995400"/>
            <a:ext cx="3395645" cy="228530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1681826" y="2466632"/>
            <a:ext cx="3733271" cy="253297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rcRect b="50975"/>
          <a:stretch>
            <a:fillRect/>
          </a:stretch>
        </p:blipFill>
        <p:spPr>
          <a:xfrm>
            <a:off x="216597" y="1097297"/>
            <a:ext cx="3520879" cy="2360278"/>
          </a:xfrm>
          <a:prstGeom prst="rect">
            <a:avLst/>
          </a:prstGeom>
        </p:spPr>
      </p:pic>
      <p:sp>
        <p:nvSpPr>
          <p:cNvPr id="18" name="모서리가 둥근 사각형 설명선 17"/>
          <p:cNvSpPr/>
          <p:nvPr/>
        </p:nvSpPr>
        <p:spPr>
          <a:xfrm>
            <a:off x="8118110" y="1542318"/>
            <a:ext cx="3115141" cy="1390938"/>
          </a:xfrm>
          <a:prstGeom prst="wedgeRoundRectCallout">
            <a:avLst>
              <a:gd name="adj1" fmla="val -16480"/>
              <a:gd name="adj2" fmla="val 85539"/>
              <a:gd name="adj3" fmla="val 16667"/>
            </a:avLst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>
                <a:solidFill>
                  <a:schemeClr val="dk1"/>
                </a:solidFill>
                <a:latin typeface="나눔고딕"/>
                <a:ea typeface="나눔고딕"/>
              </a:rPr>
              <a:t>올바른 발음으로 읽을 수 있나요</a:t>
            </a:r>
            <a:r>
              <a:rPr lang="en-US" altLang="ko-KR" sz="2800">
                <a:solidFill>
                  <a:schemeClr val="dk1"/>
                </a:solidFill>
                <a:latin typeface="나눔고딕"/>
                <a:ea typeface="나눔고딕"/>
              </a:rPr>
              <a:t>?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80020E7-382D-4A49-A68B-704936114E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078" y="3390129"/>
            <a:ext cx="5174470" cy="282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28801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7342187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숙제 안내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0" name="TextBox 1"/>
          <p:cNvSpPr txBox="1"/>
          <p:nvPr/>
        </p:nvSpPr>
        <p:spPr>
          <a:xfrm>
            <a:off x="385571" y="2153148"/>
            <a:ext cx="11420856" cy="255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marR="0" lvl="0" indent="0" algn="ctr" latinLnBrk="1">
              <a:lnSpc>
                <a:spcPct val="150000"/>
              </a:lnSpc>
              <a:buNone/>
              <a:defRPr/>
            </a:pPr>
            <a:r>
              <a:rPr lang="en-US" altLang="ko-KR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‘</a:t>
            </a:r>
            <a:r>
              <a:rPr lang="ko-KR" altLang="en-US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오늘의 요리 뉴스</a:t>
            </a:r>
            <a:r>
              <a:rPr lang="en-US" altLang="ko-KR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’</a:t>
            </a:r>
            <a:endParaRPr lang="en-US" altLang="ko-KR" sz="5400" b="1" kern="0" spc="0">
              <a:solidFill>
                <a:srgbClr val="000000"/>
              </a:solidFill>
              <a:effectLst/>
              <a:latin typeface="나눔고딕"/>
              <a:ea typeface="나눔고딕"/>
            </a:endParaRPr>
          </a:p>
          <a:p>
            <a:pPr marL="254000" marR="0" lvl="0" indent="0" algn="ctr" latinLnBrk="1">
              <a:lnSpc>
                <a:spcPct val="150000"/>
              </a:lnSpc>
              <a:buNone/>
              <a:defRPr/>
            </a:pPr>
            <a:r>
              <a:rPr lang="ko-KR" altLang="en-US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전체 녹음해보기</a:t>
            </a:r>
            <a:endParaRPr lang="ko-KR" altLang="en-US" sz="5400" b="1" kern="0" spc="0">
              <a:solidFill>
                <a:srgbClr val="000000"/>
              </a:solidFill>
              <a:effectLst/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0890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250</ep:Words>
  <ep:PresentationFormat>와이드스크린</ep:PresentationFormat>
  <ep:Paragraphs>90</ep:Paragraphs>
  <ep:Slides>21</ep:Slides>
  <ep:Notes>20</ep:Notes>
  <ep:TotalTime>0</ep:TotalTime>
  <ep:HiddenSlides>1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2026-05-21T14:39:51.000</dcterms:created>
  <dc:creator>sophi</dc:creator>
  <cp:lastModifiedBy>KOREAN</cp:lastModifiedBy>
  <dcterms:modified xsi:type="dcterms:W3CDTF">2026-07-01T10:46:36.994</dcterms:modified>
  <cp:revision>52</cp:revision>
  <dc:title>PowerPoint 프레젠테이션</dc:title>
  <cp:version>13.0.0.3380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